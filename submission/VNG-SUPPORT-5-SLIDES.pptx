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28e786686e4971" /><Relationship Type="http://schemas.openxmlformats.org/officeDocument/2006/relationships/extended-properties" Target="/docProps/app.xml" Id="R5bc46ff569824562" /><Relationship Type="http://schemas.openxmlformats.org/officeDocument/2006/relationships/officeDocument" Target="/ppt/presentation.xml" Id="Re28b1f12d45040f7" /></Relationships>
</file>

<file path=ppt/presentation.xml><?xml version="1.0" encoding="utf-8"?>
<p:presentation xmlns:p="http://schemas.openxmlformats.org/presentationml/2006/main">
  <p:sldMasterIdLst>
    <p:sldMasterId xmlns:r="http://schemas.openxmlformats.org/officeDocument/2006/relationships" id="2147483648" r:id="Rb77be8c2df6e4561"/>
  </p:sldMasterIdLst>
  <p:notesMasterIdLst>
    <p:notesMasterId xmlns:r="http://schemas.openxmlformats.org/officeDocument/2006/relationships" r:id="R4d7ae799fac0455e"/>
  </p:notesMasterIdLst>
  <p:sldIdLst>
    <p:sldId xmlns:r="http://schemas.openxmlformats.org/officeDocument/2006/relationships" id="256" r:id="R8e3d46f29df840cd"/>
    <p:sldId xmlns:r="http://schemas.openxmlformats.org/officeDocument/2006/relationships" id="257" r:id="Redc6ec86f0e54e02"/>
    <p:sldId xmlns:r="http://schemas.openxmlformats.org/officeDocument/2006/relationships" id="258" r:id="Rdfefdc3fc61c4f93"/>
    <p:sldId xmlns:r="http://schemas.openxmlformats.org/officeDocument/2006/relationships" id="259" r:id="R26ff89e7103d47be"/>
    <p:sldId xmlns:r="http://schemas.openxmlformats.org/officeDocument/2006/relationships" id="260" r:id="R5415132f209b41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cc21aac0044cb0" /><Relationship Type="http://schemas.openxmlformats.org/officeDocument/2006/relationships/slideMaster" Target="/ppt/slideMasters/slideMaster1.xml" Id="Rb77be8c2df6e4561" /><Relationship Type="http://schemas.openxmlformats.org/officeDocument/2006/relationships/notesMaster" Target="/ppt/notesMasters/notesMaster1.xml" Id="R4d7ae799fac0455e" /><Relationship Type="http://schemas.openxmlformats.org/officeDocument/2006/relationships/presProps" Target="/ppt/presProps.xml" Id="R1ff31e8ce6754916" /><Relationship Type="http://schemas.openxmlformats.org/officeDocument/2006/relationships/tableStyles" Target="/ppt/tableStyles.xml" Id="R0b433015475442fa" /><Relationship Type="http://schemas.openxmlformats.org/officeDocument/2006/relationships/slide" Target="/ppt/slides/slide1.xml" Id="R8e3d46f29df840cd" /><Relationship Type="http://schemas.openxmlformats.org/officeDocument/2006/relationships/slide" Target="/ppt/slides/slide2.xml" Id="Redc6ec86f0e54e02" /><Relationship Type="http://schemas.openxmlformats.org/officeDocument/2006/relationships/slide" Target="/ppt/slides/slide3.xml" Id="Rdfefdc3fc61c4f93" /><Relationship Type="http://schemas.openxmlformats.org/officeDocument/2006/relationships/slide" Target="/ppt/slides/slide4.xml" Id="R26ff89e7103d47be" /><Relationship Type="http://schemas.openxmlformats.org/officeDocument/2006/relationships/slide" Target="/ppt/slides/slide5.xml" Id="R5415132f209b41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3c436ca60943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4e22aa98a24c5c" /><Relationship Type="http://schemas.openxmlformats.org/officeDocument/2006/relationships/notesMaster" Target="/ppt/notesMasters/notesMaster1.xml" Id="Rbe967205138d4a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1725d92241435a" /><Relationship Type="http://schemas.openxmlformats.org/officeDocument/2006/relationships/notesMaster" Target="/ppt/notesMasters/notesMaster1.xml" Id="Ra982fec6649245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0cc1ab42f84c02" /><Relationship Type="http://schemas.openxmlformats.org/officeDocument/2006/relationships/notesMaster" Target="/ppt/notesMasters/notesMaster1.xml" Id="R3230b254ef7345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2ad169a790483a" /><Relationship Type="http://schemas.openxmlformats.org/officeDocument/2006/relationships/notesMaster" Target="/ppt/notesMasters/notesMaster1.xml" Id="R6fc947149e3646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3aa6c8a85341d3" /><Relationship Type="http://schemas.openxmlformats.org/officeDocument/2006/relationships/notesMaster" Target="/ppt/notesMasters/notesMaster1.xml" Id="Rac61e97e07bc41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Trình bày đây là mô hình hiện trạng để xây dựng giả thuyết, không phải kết quả khảo sát. Người dùng mục tiêu là người gửi yêu cầu IT và nhân viên hỗ trợ. Cần xác nhận điểm hỏi lại và bàn giao với người trực tiếp làm công việc trước khi báo cáo tác động.</a:t>
            </a:r>
          </a:p>
          <a:p xmlns:a="http://schemas.openxmlformats.org/drawingml/2006/main">
            <a:r>
              <a:t/>
            </a:r>
          </a:p>
          <a:p xmlns:a="http://schemas.openxmlformats.org/drawingml/2006/main">
            <a:r>
              <a:t>Nguồn: https://github.com/dakiemdarktharr/DOCRELAY_MLAI2026/blob/7909f0cc8f99629f114b528cde8a989450bc1de7/README.md</a:t>
            </a:r>
          </a:p>
          <a:p xmlns:a="http://schemas.openxmlformats.org/drawingml/2006/main">
            <a:r>
              <a:t>https://github.com/dakiemdarktharr/DOCRELAY_MLAI2026/blob/7909f0cc8f99629f114b528cde8a989450bc1de7/src/app/workspace/page.tsx</a:t>
            </a:r>
          </a:p>
          <a:p xmlns:a="http://schemas.openxmlformats.org/drawingml/2006/main">
            <a:r>
              <a:t>Brief: https://docs.google.com/document/d/1t8kgowB0YYRnr19w945V-LBE9YONOwVb/edit</a:t>
            </a:r>
          </a:p>
          <a:p xmlns:a="http://schemas.openxmlformats.org/drawingml/2006/main">
            <a:r>
              <a:t>Source tham chiếu 7909f0c. Dữ liệu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chi tiết: chọn phòng ban, nhập mô tả hoặc chọn danh mục, xem preview, xác nhận để tạo request. Policy deterministic giữ quyền phân loại, mô hình chỉ hỗ trợ hiểu và diễn đạt. Khi người dùng bổ sung thông tin, runtime đánh giá lại policy. Reviewer có các thao tác theo trạng thái và guard, bắt buộc lý do. Approve/fulfill là workflow mô phỏng, không mở quyền IAM. STOP dừng xử lý trong ứng dụng, không rollback hạ tầng bên ngoài. Audit lưu thông tin đã redact, policy/rule, thời gian, actor demo và chuyển trạng thái.</a:t>
            </a:r>
          </a:p>
          <a:p xmlns:a="http://schemas.openxmlformats.org/drawingml/2006/main">
            <a:r>
              <a:t/>
            </a:r>
          </a:p>
          <a:p xmlns:a="http://schemas.openxmlformats.org/drawingml/2006/main">
            <a:r>
              <a:t>Nguồn: https://github.com/dakiemdarktharr/DOCRELAY_MLAI2026/blob/7909f0cc8f99629f114b528cde8a989450bc1de7/src/domain/employee-identity.ts</a:t>
            </a:r>
          </a:p>
          <a:p xmlns:a="http://schemas.openxmlformats.org/drawingml/2006/main">
            <a:r>
              <a:t>https://github.com/dakiemdarktharr/DOCRELAY_MLAI2026/blob/7909f0cc8f99629f114b528cde8a989450bc1de7/src/services/support.ts</a:t>
            </a:r>
          </a:p>
          <a:p xmlns:a="http://schemas.openxmlformats.org/drawingml/2006/main">
            <a:r>
              <a:t>https://github.com/dakiemdarktharr/DOCRELAY_MLAI2026/blob/7909f0cc8f99629f114b528cde8a989450bc1de7/src/domain/policy.ts</a:t>
            </a:r>
          </a:p>
          <a:p xmlns:a="http://schemas.openxmlformats.org/drawingml/2006/main">
            <a:r>
              <a:t>https://github.com/dakiemdarktharr/DOCRELAY_MLAI2026/blob/7909f0cc8f99629f114b528cde8a989450bc1de7/src/services/review.ts</a:t>
            </a:r>
          </a:p>
          <a:p xmlns:a="http://schemas.openxmlformats.org/drawingml/2006/main">
            <a:r>
              <a:t>Brief: https://docs.google.com/document/d/1t8kgowB0YYRnr19w945V-LBE9YONOwVb/edit</a:t>
            </a:r>
          </a:p>
          <a:p xmlns:a="http://schemas.openxmlformats.org/drawingml/2006/main">
            <a:r>
              <a:t>Source tham chiếu 7909f0c. Dữ liệu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công bố phần trăm tiết kiệm thời gian vì chưa đo. Đo thời gian từ nhận task tới kết quả được người đánh giá chấp nhận, gồm chờ. Ghi riêng thời gian reviewer, số lần hỏi và thành công. Bỏ sót escalation = số ca phải chuyển nhưng không chuyển chia tổng ca cần chuyển. Chuyển thừa = số routine bị chuyển chia tổng routine. Mẫu số 0 ghi không áp dụng. Khóa nhãn và task trước đánh giá, tách dữ liệu độc lập khỏi development. Lưu danh tính thật và chức danh riêng cho BTC theo đồng thuận, public chỉ dữ liệu được phép.</a:t>
            </a:r>
          </a:p>
          <a:p xmlns:a="http://schemas.openxmlformats.org/drawingml/2006/main">
            <a:r>
              <a:t/>
            </a:r>
          </a:p>
          <a:p xmlns:a="http://schemas.openxmlformats.org/drawingml/2006/main">
            <a:r>
              <a:t>Nguồn: https://github.com/dakiemdarktharr/DOCRELAY_MLAI2026/blob/7909f0cc8f99629f114b528cde8a989450bc1de7/Challenge_Brief_OrganizationAI_VN.docx.md</a:t>
            </a:r>
          </a:p>
          <a:p xmlns:a="http://schemas.openxmlformats.org/drawingml/2006/main">
            <a:r>
              <a:t>https://github.com/dakiemdarktharr/DOCRELAY_MLAI2026/blob/7909f0cc8f99629f114b528cde8a989450bc1de7/docs/EVALUATION.md</a:t>
            </a:r>
          </a:p>
          <a:p xmlns:a="http://schemas.openxmlformats.org/drawingml/2006/main">
            <a:r>
              <a:t>Brief: https://docs.google.com/document/d/1t8kgowB0YYRnr19w945V-LBE9YONOwVb/edit</a:t>
            </a:r>
          </a:p>
          <a:p xmlns:a="http://schemas.openxmlformats.org/drawingml/2006/main">
            <a:r>
              <a:t>Source tham chiếu 7909f0c. Dữ liệu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có adapter OpenAI, kiến thức BM25 và lookup web giới hạn theo cấu hình. Mô hình không có tool thực thi hạ tầng và không tự quyết định authority. Sơ đồ là các thành phần xử lý, không diễn giải rằng mọi request đều gọi model. Cần đối chiếu health để biết provider và persistence của deployment đang chạy. Mongo ping không chứng minh workflow hoặc model call thành công. Source v5.2 và dữ liệu synthetic, không có chính sách nội bộ VNG được xác nhận.</a:t>
            </a:r>
          </a:p>
          <a:p xmlns:a="http://schemas.openxmlformats.org/drawingml/2006/main">
            <a:r>
              <a:t/>
            </a:r>
          </a:p>
          <a:p xmlns:a="http://schemas.openxmlformats.org/drawingml/2006/main">
            <a:r>
              <a:t>Nguồn: https://github.com/dakiemdarktharr/DOCRELAY_MLAI2026/blob/7909f0cc8f99629f114b528cde8a989450bc1de7/src/services/support.ts</a:t>
            </a:r>
          </a:p>
          <a:p xmlns:a="http://schemas.openxmlformats.org/drawingml/2006/main">
            <a:r>
              <a:t>https://github.com/dakiemdarktharr/DOCRELAY_MLAI2026/blob/7909f0cc8f99629f114b528cde8a989450bc1de7/src/lib/support-model.ts</a:t>
            </a:r>
          </a:p>
          <a:p xmlns:a="http://schemas.openxmlformats.org/drawingml/2006/main">
            <a:r>
              <a:t>https://github.com/dakiemdarktharr/DOCRELAY_MLAI2026/blob/7909f0cc8f99629f114b528cde8a989450bc1de7/src/lib/support-repository.ts</a:t>
            </a:r>
          </a:p>
          <a:p xmlns:a="http://schemas.openxmlformats.org/drawingml/2006/main">
            <a:r>
              <a:t>https://github.com/dakiemdarktharr/DOCRELAY_MLAI2026/blob/7909f0cc8f99629f114b528cde8a989450bc1de7/src/app/api/support/health/route.ts</a:t>
            </a:r>
          </a:p>
          <a:p xmlns:a="http://schemas.openxmlformats.org/drawingml/2006/main">
            <a:r>
              <a:t>https://github.com/dakiemdarktharr/DOCRELAY_MLAI2026/blob/7909f0cc8f99629f114b528cde8a989450bc1de7/src/lib/support-verify.ts</a:t>
            </a:r>
          </a:p>
          <a:p xmlns:a="http://schemas.openxmlformats.org/drawingml/2006/main">
            <a:r>
              <a:t>Brief: https://docs.google.com/document/d/1t8kgowB0YYRnr19w945V-LBE9YONOwVb/edit</a:t>
            </a:r>
          </a:p>
          <a:p xmlns:a="http://schemas.openxmlformats.org/drawingml/2006/main">
            <a:r>
              <a:t>Source tham chiếu 7909f0c. Dữ liệu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Verify /verify, de-a-v3, Chạy toàn bộ test (5): 3 AUTO hướng dẫn, 2 ESCALATE. Mục 3b brief chung yêu cầu 4 case, bài Đề A yêu cầu 5. Runtime hiện chỉ cho chạy 5 hoặc 15. Hồ sơ ánh xạ bốn case nộp vào pack 5 nhưng không tuyên bố có nút riêng chạy 4. Input mới cần phòng ban. Dùng link request để mở review; thao tác chỉ xuất hiện nếu trạng thái/guard cho phép. Audit phải thể hiện lý do và thời điểm thực tế. Source 7909f0c báo cáo 331 pass/1 hash-policy fail, không phải QA mới của hồ sơ này. Chưa chứng minh source hiện tại trên Vercel. Không thực thi hoặc hoàn tác hạ tầng thật.</a:t>
            </a:r>
          </a:p>
          <a:p xmlns:a="http://schemas.openxmlformats.org/drawingml/2006/main">
            <a:r>
              <a:t/>
            </a:r>
          </a:p>
          <a:p xmlns:a="http://schemas.openxmlformats.org/drawingml/2006/main">
            <a:r>
              <a:t>Nguồn: https://github.com/dakiemdarktharr/DOCRELAY_MLAI2026/blob/7909f0cc8f99629f114b528cde8a989450bc1de7/src/app/verify/page.tsx</a:t>
            </a:r>
          </a:p>
          <a:p xmlns:a="http://schemas.openxmlformats.org/drawingml/2006/main">
            <a:r>
              <a:t>https://github.com/dakiemdarktharr/DOCRELAY_MLAI2026/blob/7909f0cc8f99629f114b528cde8a989450bc1de7/src/services/verification.ts</a:t>
            </a:r>
          </a:p>
          <a:p xmlns:a="http://schemas.openxmlformats.org/drawingml/2006/main">
            <a:r>
              <a:t>https://github.com/dakiemdarktharr/DOCRELAY_MLAI2026/blob/7909f0cc8f99629f114b528cde8a989450bc1de7/src/services/review.ts</a:t>
            </a:r>
          </a:p>
          <a:p xmlns:a="http://schemas.openxmlformats.org/drawingml/2006/main">
            <a:r>
              <a:t>https://github.com/dakiemdarktharr/DOCRELAY_MLAI2026/blob/7909f0cc8f99629f114b528cde8a989450bc1de7/src/domain/transitions.ts</a:t>
            </a:r>
          </a:p>
          <a:p xmlns:a="http://schemas.openxmlformats.org/drawingml/2006/main">
            <a:r>
              <a:t>Brief: https://docs.google.com/document/d/1t8kgowB0YYRnr19w945V-LBE9YONOwVb/edit</a:t>
            </a:r>
          </a:p>
          <a:p xmlns:a="http://schemas.openxmlformats.org/drawingml/2006/main">
            <a:r>
              <a:t>Source tham chiếu 7909f0c. Dữ liệu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f8467ae72d43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42ed3ad3b04a2c" /><Relationship Type="http://schemas.openxmlformats.org/officeDocument/2006/relationships/slideLayout" Target="/ppt/slideLayouts/slideLayout1.xml" Id="R5c208c20077f4e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208c20077f4e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f2800c014b4e03" /><Relationship Type="http://schemas.openxmlformats.org/officeDocument/2006/relationships/notesSlide" Target="/ppt/notesSlides/notesSlide1.xml" Id="Rfaff93d22be741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0ba5dcc413645d7" /><Relationship Type="http://schemas.openxmlformats.org/officeDocument/2006/relationships/notesSlide" Target="/ppt/notesSlides/notesSlide2.xml" Id="R5084350541cb4c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162c82a53f845f2" /><Relationship Type="http://schemas.openxmlformats.org/officeDocument/2006/relationships/notesSlide" Target="/ppt/notesSlides/notesSlide3.xml" Id="Rfdc11c0a21b84a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bd361fcd0247a1" /><Relationship Type="http://schemas.openxmlformats.org/officeDocument/2006/relationships/notesSlide" Target="/ppt/notesSlides/notesSlide4.xml" Id="Rbea0b9cc903e41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7cd3abaa014ad4" /><Relationship Type="http://schemas.openxmlformats.org/officeDocument/2006/relationships/notesSlide" Target="/ppt/notesSlides/notesSlide5.xml" Id="R03856a87c417406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C8F89E3-7A08-453A-ACEC-D541046C3C6D}"/>
              </a:ext>
            </a:extLst>
          </p:cNvPr>
          <p:cNvSpPr>
            <a:spLocks xmlns:a="http://schemas.openxmlformats.org/drawingml/2006/main" noGrp="1"/>
          </p:cNvSpPr>
          <p:nvPr/>
        </p:nvSpPr>
        <p:spPr>
          <a:xfrm xmlns:a="http://schemas.openxmlformats.org/drawingml/2006/main">
            <a:off x="533400" y="247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CF4E12"/>
                </a:solidFill>
                <a:latin typeface="Arial"/>
                <a:ea typeface="Arial"/>
                <a:cs typeface="Arial"/>
              </a:defRPr>
            </a:pPr>
            <a:r>
              <a:rPr sz="1200" b="1">
                <a:solidFill>
                  <a:srgbClr val="CF4E12"/>
                </a:solidFill>
                <a:latin typeface="Arial"/>
                <a:ea typeface="Arial"/>
                <a:cs typeface="Arial"/>
              </a:rPr>
              <a:t>VNG SUPPORT   /   MLAI 2026   /   ĐỀ A</a:t>
            </a:r>
          </a:p>
        </p:txBody>
      </p:sp>
      <p:sp>
        <p:nvSpPr>
          <p:cNvPr id="2" name="">
            <a:extLst xmlns:a="http://schemas.openxmlformats.org/drawingml/2006/main">
              <a:ext uri="{FF2B5EF4-FFF2-40B4-BE49-F238E27FC236}">
                <a16:creationId xmlns:a16="http://schemas.microsoft.com/office/drawing/2014/main" id="{5C490ED4-8776-4733-BFA2-740076142115}"/>
              </a:ext>
            </a:extLst>
          </p:cNvPr>
          <p:cNvSpPr>
            <a:spLocks xmlns:a="http://schemas.openxmlformats.org/drawingml/2006/main" noGrp="1"/>
          </p:cNvSpPr>
          <p:nvPr/>
        </p:nvSpPr>
        <p:spPr>
          <a:xfrm xmlns:a="http://schemas.openxmlformats.org/drawingml/2006/main">
            <a:off x="533400" y="6858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02B38"/>
                </a:solidFill>
                <a:latin typeface="Arial"/>
                <a:ea typeface="Arial"/>
                <a:cs typeface="Arial"/>
              </a:defRPr>
            </a:pPr>
            <a:r>
              <a:rPr sz="3225" b="1">
                <a:solidFill>
                  <a:srgbClr val="202B38"/>
                </a:solidFill>
                <a:latin typeface="Arial"/>
                <a:ea typeface="Arial"/>
                <a:cs typeface="Arial"/>
              </a:rPr>
              <a:t>Quy trình tiếp nhận hỗ trợ kỹ thuật</a:t>
            </a:r>
          </a:p>
        </p:txBody>
      </p:sp>
      <p:sp>
        <p:nvSpPr>
          <p:cNvPr id="3" name="">
            <a:extLst xmlns:a="http://schemas.openxmlformats.org/drawingml/2006/main">
              <a:ext uri="{FF2B5EF4-FFF2-40B4-BE49-F238E27FC236}">
                <a16:creationId xmlns:a16="http://schemas.microsoft.com/office/drawing/2014/main" id="{0DD7B956-A2AB-4D86-89B7-8C4399DF3F66}"/>
              </a:ext>
            </a:extLst>
          </p:cNvPr>
          <p:cNvSpPr>
            <a:spLocks xmlns:a="http://schemas.openxmlformats.org/drawingml/2006/main" noGrp="1"/>
          </p:cNvSpPr>
          <p:nvPr/>
        </p:nvSpPr>
        <p:spPr>
          <a:xfrm xmlns:a="http://schemas.openxmlformats.org/drawingml/2006/main">
            <a:off x="533400" y="1352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06D"/>
                </a:solidFill>
                <a:latin typeface="Arial"/>
                <a:ea typeface="Arial"/>
                <a:cs typeface="Arial"/>
              </a:defRPr>
            </a:pPr>
            <a:r>
              <a:rPr sz="1725" b="0">
                <a:solidFill>
                  <a:srgbClr val="52606D"/>
                </a:solidFill>
                <a:latin typeface="Arial"/>
                <a:ea typeface="Arial"/>
                <a:cs typeface="Arial"/>
              </a:rPr>
              <a:t>Vấn đề thiết kế: xác định việc nào có thể hướng dẫn ngay và việc nào cần người quyết định.</a:t>
            </a:r>
          </a:p>
        </p:txBody>
      </p:sp>
      <p:sp>
        <p:nvSpPr>
          <p:cNvPr id="4" name="">
            <a:extLst xmlns:a="http://schemas.openxmlformats.org/drawingml/2006/main">
              <a:ext uri="{FF2B5EF4-FFF2-40B4-BE49-F238E27FC236}">
                <a16:creationId xmlns:a16="http://schemas.microsoft.com/office/drawing/2014/main" id="{F92F11F2-648B-4925-B538-091676EB19DE}"/>
              </a:ext>
            </a:extLst>
          </p:cNvPr>
          <p:cNvSpPr>
            <a:spLocks xmlns:a="http://schemas.openxmlformats.org/drawingml/2006/main" noGrp="1"/>
          </p:cNvSpPr>
          <p:nvPr/>
        </p:nvSpPr>
        <p:spPr>
          <a:xfrm xmlns:a="http://schemas.openxmlformats.org/drawingml/2006/main">
            <a:off x="11049000" y="64484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1 / 5</a:t>
            </a:r>
          </a:p>
        </p:txBody>
      </p:sp>
      <p:sp>
        <p:nvSpPr>
          <p:cNvPr id="5" name="">
            <a:extLst xmlns:a="http://schemas.openxmlformats.org/drawingml/2006/main">
              <a:ext uri="{FF2B5EF4-FFF2-40B4-BE49-F238E27FC236}">
                <a16:creationId xmlns:a16="http://schemas.microsoft.com/office/drawing/2014/main" id="{B2B6F8AE-DE89-48C3-9DAF-4AC655221885}"/>
              </a:ext>
            </a:extLst>
          </p:cNvPr>
          <p:cNvSpPr>
            <a:spLocks xmlns:a="http://schemas.openxmlformats.org/drawingml/2006/main" noGrp="1"/>
          </p:cNvSpPr>
          <p:nvPr/>
        </p:nvSpPr>
        <p:spPr>
          <a:xfrm xmlns:a="http://schemas.openxmlformats.org/drawingml/2006/main">
            <a:off x="533400" y="208597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06D"/>
                </a:solidFill>
                <a:latin typeface="Arial"/>
                <a:ea typeface="Arial"/>
                <a:cs typeface="Arial"/>
              </a:defRPr>
            </a:pPr>
            <a:r>
              <a:rPr sz="1350" b="1">
                <a:solidFill>
                  <a:srgbClr val="52606D"/>
                </a:solidFill>
                <a:latin typeface="Arial"/>
                <a:ea typeface="Arial"/>
                <a:cs typeface="Arial"/>
              </a:rPr>
              <a:t>HIỆN TRẠNG GIẢ ĐỊNH CẦN XÁC NHẬN VỚI NGƯỜI DÙNG</a:t>
            </a:r>
          </a:p>
        </p:txBody>
      </p:sp>
      <p:sp>
        <p:nvSpPr>
          <p:cNvPr id="6" name="">
            <a:extLst xmlns:a="http://schemas.openxmlformats.org/drawingml/2006/main">
              <a:ext uri="{FF2B5EF4-FFF2-40B4-BE49-F238E27FC236}">
                <a16:creationId xmlns:a16="http://schemas.microsoft.com/office/drawing/2014/main" id="{2B902828-922B-4B36-83B3-FCC95F040E5F}"/>
              </a:ext>
            </a:extLst>
          </p:cNvPr>
          <p:cNvSpPr>
            <a:spLocks xmlns:a="http://schemas.openxmlformats.org/drawingml/2006/main" noGrp="1"/>
          </p:cNvSpPr>
          <p:nvPr/>
        </p:nvSpPr>
        <p:spPr>
          <a:xfrm xmlns:a="http://schemas.openxmlformats.org/drawingml/2006/main">
            <a:off x="533400" y="2590800"/>
            <a:ext cx="217170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7" name="">
            <a:extLst xmlns:a="http://schemas.openxmlformats.org/drawingml/2006/main">
              <a:ext uri="{FF2B5EF4-FFF2-40B4-BE49-F238E27FC236}">
                <a16:creationId xmlns:a16="http://schemas.microsoft.com/office/drawing/2014/main" id="{7E11CDC5-6FC8-46D7-B758-6A01D262ED5C}"/>
              </a:ext>
            </a:extLst>
          </p:cNvPr>
          <p:cNvSpPr>
            <a:spLocks xmlns:a="http://schemas.openxmlformats.org/drawingml/2006/main" noGrp="1"/>
          </p:cNvSpPr>
          <p:nvPr/>
        </p:nvSpPr>
        <p:spPr>
          <a:xfrm xmlns:a="http://schemas.openxmlformats.org/drawingml/2006/main">
            <a:off x="685800" y="2724150"/>
            <a:ext cx="1866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Gửi vấn đề</a:t>
            </a:r>
          </a:p>
        </p:txBody>
      </p:sp>
      <p:sp>
        <p:nvSpPr>
          <p:cNvPr id="8" name="">
            <a:extLst xmlns:a="http://schemas.openxmlformats.org/drawingml/2006/main">
              <a:ext uri="{FF2B5EF4-FFF2-40B4-BE49-F238E27FC236}">
                <a16:creationId xmlns:a16="http://schemas.microsoft.com/office/drawing/2014/main" id="{53C417DD-D2EE-4A07-9BD3-0691B7275F84}"/>
              </a:ext>
            </a:extLst>
          </p:cNvPr>
          <p:cNvSpPr>
            <a:spLocks xmlns:a="http://schemas.openxmlformats.org/drawingml/2006/main" noGrp="1"/>
          </p:cNvSpPr>
          <p:nvPr/>
        </p:nvSpPr>
        <p:spPr>
          <a:xfrm xmlns:a="http://schemas.openxmlformats.org/drawingml/2006/main">
            <a:off x="3495675" y="2590800"/>
            <a:ext cx="217170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9" name="">
            <a:extLst xmlns:a="http://schemas.openxmlformats.org/drawingml/2006/main">
              <a:ext uri="{FF2B5EF4-FFF2-40B4-BE49-F238E27FC236}">
                <a16:creationId xmlns:a16="http://schemas.microsoft.com/office/drawing/2014/main" id="{489676B7-5F17-4AD6-8B69-47E759DB3A57}"/>
              </a:ext>
            </a:extLst>
          </p:cNvPr>
          <p:cNvSpPr>
            <a:spLocks xmlns:a="http://schemas.openxmlformats.org/drawingml/2006/main" noGrp="1"/>
          </p:cNvSpPr>
          <p:nvPr/>
        </p:nvSpPr>
        <p:spPr>
          <a:xfrm xmlns:a="http://schemas.openxmlformats.org/drawingml/2006/main">
            <a:off x="3648075" y="2724150"/>
            <a:ext cx="1866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Hỏi lại dữ kiện</a:t>
            </a:r>
          </a:p>
        </p:txBody>
      </p:sp>
      <p:sp>
        <p:nvSpPr>
          <p:cNvPr id="10" name="">
            <a:extLst xmlns:a="http://schemas.openxmlformats.org/drawingml/2006/main">
              <a:ext uri="{FF2B5EF4-FFF2-40B4-BE49-F238E27FC236}">
                <a16:creationId xmlns:a16="http://schemas.microsoft.com/office/drawing/2014/main" id="{89EF5C70-0FEB-4E76-91AF-E8A2810C6452}"/>
              </a:ext>
            </a:extLst>
          </p:cNvPr>
          <p:cNvSpPr>
            <a:spLocks xmlns:a="http://schemas.openxmlformats.org/drawingml/2006/main" noGrp="1"/>
          </p:cNvSpPr>
          <p:nvPr/>
        </p:nvSpPr>
        <p:spPr>
          <a:xfrm xmlns:a="http://schemas.openxmlformats.org/drawingml/2006/main">
            <a:off x="6457950" y="2590800"/>
            <a:ext cx="217170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11" name="">
            <a:extLst xmlns:a="http://schemas.openxmlformats.org/drawingml/2006/main">
              <a:ext uri="{FF2B5EF4-FFF2-40B4-BE49-F238E27FC236}">
                <a16:creationId xmlns:a16="http://schemas.microsoft.com/office/drawing/2014/main" id="{70ECBB6D-AC8E-4F8C-83A5-F3F613B50EAB}"/>
              </a:ext>
            </a:extLst>
          </p:cNvPr>
          <p:cNvSpPr>
            <a:spLocks xmlns:a="http://schemas.openxmlformats.org/drawingml/2006/main" noGrp="1"/>
          </p:cNvSpPr>
          <p:nvPr/>
        </p:nvSpPr>
        <p:spPr>
          <a:xfrm xmlns:a="http://schemas.openxmlformats.org/drawingml/2006/main">
            <a:off x="6610350" y="2724150"/>
            <a:ext cx="1866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Tìm người</a:t>
            </a:r>
          </a:p>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có thẩm quyền</a:t>
            </a:r>
          </a:p>
        </p:txBody>
      </p:sp>
      <p:sp>
        <p:nvSpPr>
          <p:cNvPr id="12" name="">
            <a:extLst xmlns:a="http://schemas.openxmlformats.org/drawingml/2006/main">
              <a:ext uri="{FF2B5EF4-FFF2-40B4-BE49-F238E27FC236}">
                <a16:creationId xmlns:a16="http://schemas.microsoft.com/office/drawing/2014/main" id="{E2E36E8E-FDFB-4788-B9AD-01FF979379D5}"/>
              </a:ext>
            </a:extLst>
          </p:cNvPr>
          <p:cNvSpPr>
            <a:spLocks xmlns:a="http://schemas.openxmlformats.org/drawingml/2006/main" noGrp="1"/>
          </p:cNvSpPr>
          <p:nvPr/>
        </p:nvSpPr>
        <p:spPr>
          <a:xfrm xmlns:a="http://schemas.openxmlformats.org/drawingml/2006/main">
            <a:off x="9420225" y="2590800"/>
            <a:ext cx="2238375"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13" name="">
            <a:extLst xmlns:a="http://schemas.openxmlformats.org/drawingml/2006/main">
              <a:ext uri="{FF2B5EF4-FFF2-40B4-BE49-F238E27FC236}">
                <a16:creationId xmlns:a16="http://schemas.microsoft.com/office/drawing/2014/main" id="{D26996F8-5ADC-4A89-8722-962A0CC96576}"/>
              </a:ext>
            </a:extLst>
          </p:cNvPr>
          <p:cNvSpPr>
            <a:spLocks xmlns:a="http://schemas.openxmlformats.org/drawingml/2006/main" noGrp="1"/>
          </p:cNvSpPr>
          <p:nvPr/>
        </p:nvSpPr>
        <p:spPr>
          <a:xfrm xmlns:a="http://schemas.openxmlformats.org/drawingml/2006/main">
            <a:off x="9572625" y="2724150"/>
            <a:ext cx="19335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Xử lý và</a:t>
            </a:r>
          </a:p>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báo kết quả</a:t>
            </a:r>
          </a:p>
        </p:txBody>
      </p:sp>
      <p:cxnSp>
        <p:nvCxnSpPr>
          <p:cNvPr id="35" name=""/>
          <p:cNvCxnSpPr>
            <a:stCxn xmlns:a="http://schemas.openxmlformats.org/drawingml/2006/main" id="6" idx="3"/>
            <a:endCxn xmlns:a="http://schemas.openxmlformats.org/drawingml/2006/main" id="8" idx="1"/>
          </p:cNvCxnSpPr>
          <p:nvPr/>
        </p:nvCxnSpPr>
        <p:spPr>
          <a:xfrm xmlns:a="http://schemas.openxmlformats.org/drawingml/2006/main">
            <a:off x="2705100" y="2981325"/>
            <a:ext cx="790575" cy="0"/>
          </a:xfrm>
          <a:prstGeom xmlns:a="http://schemas.openxmlformats.org/drawingml/2006/main" prst="straightConnector1">
            <a:avLst/>
          </a:prstGeom>
          <a:ln xmlns:a="http://schemas.openxmlformats.org/drawingml/2006/main" w="19050">
            <a:solidFill>
              <a:srgbClr val="52606D"/>
            </a:solidFill>
            <a:tailEnd type="triangle" w="sm" len="sm"/>
          </a:ln>
        </p:spPr>
      </p:cxnSp>
      <p:cxnSp>
        <p:nvCxnSpPr>
          <p:cNvPr id="36" name=""/>
          <p:cNvCxnSpPr>
            <a:stCxn xmlns:a="http://schemas.openxmlformats.org/drawingml/2006/main" id="8" idx="3"/>
            <a:endCxn xmlns:a="http://schemas.openxmlformats.org/drawingml/2006/main" id="10" idx="1"/>
          </p:cNvCxnSpPr>
          <p:nvPr/>
        </p:nvCxnSpPr>
        <p:spPr>
          <a:xfrm xmlns:a="http://schemas.openxmlformats.org/drawingml/2006/main">
            <a:off x="5667375" y="2981325"/>
            <a:ext cx="790575" cy="0"/>
          </a:xfrm>
          <a:prstGeom xmlns:a="http://schemas.openxmlformats.org/drawingml/2006/main" prst="straightConnector1">
            <a:avLst/>
          </a:prstGeom>
          <a:ln xmlns:a="http://schemas.openxmlformats.org/drawingml/2006/main" w="19050">
            <a:solidFill>
              <a:srgbClr val="52606D"/>
            </a:solidFill>
            <a:tailEnd type="triangle" w="sm" len="sm"/>
          </a:ln>
        </p:spPr>
      </p:cxnSp>
      <p:cxnSp>
        <p:nvCxnSpPr>
          <p:cNvPr id="37" name=""/>
          <p:cNvCxnSpPr>
            <a:stCxn xmlns:a="http://schemas.openxmlformats.org/drawingml/2006/main" id="10" idx="3"/>
            <a:endCxn xmlns:a="http://schemas.openxmlformats.org/drawingml/2006/main" id="12" idx="1"/>
          </p:cNvCxnSpPr>
          <p:nvPr/>
        </p:nvCxnSpPr>
        <p:spPr>
          <a:xfrm xmlns:a="http://schemas.openxmlformats.org/drawingml/2006/main">
            <a:off x="8629650" y="2981325"/>
            <a:ext cx="790575" cy="0"/>
          </a:xfrm>
          <a:prstGeom xmlns:a="http://schemas.openxmlformats.org/drawingml/2006/main" prst="straightConnector1">
            <a:avLst/>
          </a:prstGeom>
          <a:ln xmlns:a="http://schemas.openxmlformats.org/drawingml/2006/main" w="19050">
            <a:solidFill>
              <a:srgbClr val="52606D"/>
            </a:solidFill>
            <a:tailEnd type="triangle" w="sm" len="sm"/>
          </a:ln>
        </p:spPr>
      </p:cxnSp>
      <p:sp>
        <p:nvSpPr>
          <p:cNvPr id="17" name="">
            <a:extLst xmlns:a="http://schemas.openxmlformats.org/drawingml/2006/main">
              <a:ext uri="{FF2B5EF4-FFF2-40B4-BE49-F238E27FC236}">
                <a16:creationId xmlns:a16="http://schemas.microsoft.com/office/drawing/2014/main" id="{A0F42B4E-B108-44D5-84A7-F7F00FD6A193}"/>
              </a:ext>
            </a:extLst>
          </p:cNvPr>
          <p:cNvSpPr>
            <a:spLocks xmlns:a="http://schemas.openxmlformats.org/drawingml/2006/main" noGrp="1"/>
          </p:cNvSpPr>
          <p:nvPr/>
        </p:nvSpPr>
        <p:spPr>
          <a:xfrm xmlns:a="http://schemas.openxmlformats.org/drawingml/2006/main">
            <a:off x="533400" y="39719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F4E12"/>
                </a:solidFill>
                <a:latin typeface="Arial"/>
                <a:ea typeface="Arial"/>
                <a:cs typeface="Arial"/>
              </a:defRPr>
            </a:pPr>
            <a:r>
              <a:rPr sz="2175" b="1">
                <a:solidFill>
                  <a:srgbClr val="CF4E12"/>
                </a:solidFill>
                <a:latin typeface="Arial"/>
                <a:ea typeface="Arial"/>
                <a:cs typeface="Arial"/>
              </a:rPr>
              <a:t>Khoảng trống cần kiểm chứng</a:t>
            </a:r>
          </a:p>
        </p:txBody>
      </p:sp>
      <p:sp>
        <p:nvSpPr>
          <p:cNvPr id="18" name="">
            <a:extLst xmlns:a="http://schemas.openxmlformats.org/drawingml/2006/main">
              <a:ext uri="{FF2B5EF4-FFF2-40B4-BE49-F238E27FC236}">
                <a16:creationId xmlns:a16="http://schemas.microsoft.com/office/drawing/2014/main" id="{169BA0C1-5BB1-4D3A-807C-1B038AD9718D}"/>
              </a:ext>
            </a:extLst>
          </p:cNvPr>
          <p:cNvSpPr>
            <a:spLocks xmlns:a="http://schemas.openxmlformats.org/drawingml/2006/main" noGrp="1"/>
          </p:cNvSpPr>
          <p:nvPr/>
        </p:nvSpPr>
        <p:spPr>
          <a:xfrm xmlns:a="http://schemas.openxmlformats.org/drawingml/2006/main">
            <a:off x="533400" y="4476750"/>
            <a:ext cx="5143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B38"/>
                </a:solidFill>
                <a:latin typeface="Arial"/>
                <a:ea typeface="Arial"/>
                <a:cs typeface="Arial"/>
              </a:defRPr>
            </a:pPr>
            <a:r>
              <a:rPr sz="1875" b="0">
                <a:solidFill>
                  <a:srgbClr val="202B38"/>
                </a:solidFill>
                <a:latin typeface="Arial"/>
                <a:ea typeface="Arial"/>
                <a:cs typeface="Arial"/>
              </a:rPr>
              <a:t>Yêu cầu thiếu thông tin làm phát sinh hỏi lại.</a:t>
            </a:r>
          </a:p>
          <a:p xmlns:a="http://schemas.openxmlformats.org/drawingml/2006/main">
            <a:pPr>
              <a:defRPr sz="1875" b="0">
                <a:solidFill>
                  <a:srgbClr val="202B38"/>
                </a:solidFill>
                <a:latin typeface="Arial"/>
                <a:ea typeface="Arial"/>
                <a:cs typeface="Arial"/>
              </a:defRPr>
            </a:pPr>
            <a:r>
              <a:rPr sz="1875" b="0">
                <a:solidFill>
                  <a:srgbClr val="202B38"/>
                </a:solidFill>
                <a:latin typeface="Arial"/>
                <a:ea typeface="Arial"/>
                <a:cs typeface="Arial"/>
              </a:rPr>
              <a:t>Người tiếp nhận phải phân loại rủi ro và quyền xử lý.</a:t>
            </a:r>
          </a:p>
        </p:txBody>
      </p:sp>
      <p:sp>
        <p:nvSpPr>
          <p:cNvPr id="19" name="">
            <a:extLst xmlns:a="http://schemas.openxmlformats.org/drawingml/2006/main">
              <a:ext uri="{FF2B5EF4-FFF2-40B4-BE49-F238E27FC236}">
                <a16:creationId xmlns:a16="http://schemas.microsoft.com/office/drawing/2014/main" id="{270B43CD-A2D8-4809-BBFB-41BCA79A096A}"/>
              </a:ext>
            </a:extLst>
          </p:cNvPr>
          <p:cNvSpPr>
            <a:spLocks xmlns:a="http://schemas.openxmlformats.org/drawingml/2006/main" noGrp="1"/>
          </p:cNvSpPr>
          <p:nvPr/>
        </p:nvSpPr>
        <p:spPr>
          <a:xfrm xmlns:a="http://schemas.openxmlformats.org/drawingml/2006/main">
            <a:off x="6419850" y="39719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F4E12"/>
                </a:solidFill>
                <a:latin typeface="Arial"/>
                <a:ea typeface="Arial"/>
                <a:cs typeface="Arial"/>
              </a:defRPr>
            </a:pPr>
            <a:r>
              <a:rPr sz="2175" b="1">
                <a:solidFill>
                  <a:srgbClr val="CF4E12"/>
                </a:solidFill>
                <a:latin typeface="Arial"/>
                <a:ea typeface="Arial"/>
                <a:cs typeface="Arial"/>
              </a:rPr>
              <a:t>Phạm vi VNG Support</a:t>
            </a:r>
          </a:p>
        </p:txBody>
      </p:sp>
      <p:sp>
        <p:nvSpPr>
          <p:cNvPr id="20" name="">
            <a:extLst xmlns:a="http://schemas.openxmlformats.org/drawingml/2006/main">
              <a:ext uri="{FF2B5EF4-FFF2-40B4-BE49-F238E27FC236}">
                <a16:creationId xmlns:a16="http://schemas.microsoft.com/office/drawing/2014/main" id="{07E6750C-A217-4CCB-A848-098D7FE1E3A1}"/>
              </a:ext>
            </a:extLst>
          </p:cNvPr>
          <p:cNvSpPr>
            <a:spLocks xmlns:a="http://schemas.openxmlformats.org/drawingml/2006/main" noGrp="1"/>
          </p:cNvSpPr>
          <p:nvPr/>
        </p:nvSpPr>
        <p:spPr>
          <a:xfrm xmlns:a="http://schemas.openxmlformats.org/drawingml/2006/main">
            <a:off x="6419850" y="44767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B38"/>
                </a:solidFill>
                <a:latin typeface="Arial"/>
                <a:ea typeface="Arial"/>
                <a:cs typeface="Arial"/>
              </a:defRPr>
            </a:pPr>
            <a:r>
              <a:rPr sz="1875" b="0">
                <a:solidFill>
                  <a:srgbClr val="202B38"/>
                </a:solidFill>
                <a:latin typeface="Arial"/>
                <a:ea typeface="Arial"/>
                <a:cs typeface="Arial"/>
              </a:rPr>
              <a:t>Hướng dẫn việc thường quy.</a:t>
            </a:r>
          </a:p>
          <a:p xmlns:a="http://schemas.openxmlformats.org/drawingml/2006/main">
            <a:pPr>
              <a:defRPr sz="1875" b="0">
                <a:solidFill>
                  <a:srgbClr val="202B38"/>
                </a:solidFill>
                <a:latin typeface="Arial"/>
                <a:ea typeface="Arial"/>
                <a:cs typeface="Arial"/>
              </a:defRPr>
            </a:pPr>
            <a:r>
              <a:rPr sz="1875" b="0">
                <a:solidFill>
                  <a:srgbClr val="202B38"/>
                </a:solidFill>
                <a:latin typeface="Arial"/>
                <a:ea typeface="Arial"/>
                <a:cs typeface="Arial"/>
              </a:rPr>
              <a:t>Chuyển yêu cầu vượt quyền kèm câu hỏi cụ thể.</a:t>
            </a:r>
          </a:p>
          <a:p xmlns:a="http://schemas.openxmlformats.org/drawingml/2006/main">
            <a:pPr>
              <a:defRPr sz="1875" b="0">
                <a:solidFill>
                  <a:srgbClr val="202B38"/>
                </a:solidFill>
                <a:latin typeface="Arial"/>
                <a:ea typeface="Arial"/>
                <a:cs typeface="Arial"/>
              </a:defRPr>
            </a:pPr>
            <a:r>
              <a:rPr sz="1875" b="0">
                <a:solidFill>
                  <a:srgbClr val="202B38"/>
                </a:solidFill>
                <a:latin typeface="Arial"/>
                <a:ea typeface="Arial"/>
                <a:cs typeface="Arial"/>
              </a:rPr>
              <a:t>Lưu quyết định để kiểm tra lại.</a:t>
            </a:r>
          </a:p>
        </p:txBody>
      </p:sp>
      <p:sp>
        <p:nvSpPr>
          <p:cNvPr id="21" name="">
            <a:extLst xmlns:a="http://schemas.openxmlformats.org/drawingml/2006/main">
              <a:ext uri="{FF2B5EF4-FFF2-40B4-BE49-F238E27FC236}">
                <a16:creationId xmlns:a16="http://schemas.microsoft.com/office/drawing/2014/main" id="{087D11A2-B778-4BAD-AFD8-07E812D21DD1}"/>
              </a:ext>
            </a:extLst>
          </p:cNvPr>
          <p:cNvSpPr>
            <a:spLocks xmlns:a="http://schemas.openxmlformats.org/drawingml/2006/main" noGrp="1"/>
          </p:cNvSpPr>
          <p:nvPr/>
        </p:nvSpPr>
        <p:spPr>
          <a:xfrm xmlns:a="http://schemas.openxmlformats.org/drawingml/2006/main">
            <a:off x="533400" y="59721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06D"/>
                </a:solidFill>
                <a:latin typeface="Arial"/>
                <a:ea typeface="Arial"/>
                <a:cs typeface="Arial"/>
              </a:defRPr>
            </a:pPr>
            <a:r>
              <a:rPr sz="1350" b="0">
                <a:solidFill>
                  <a:srgbClr val="52606D"/>
                </a:solidFill>
                <a:latin typeface="Arial"/>
                <a:ea typeface="Arial"/>
                <a:cs typeface="Arial"/>
              </a:rPr>
              <a:t>Chưa khảo sát quy trình thực tế tại VNG. Sản phẩm demo sinh viên, không phải dịch vụ chính thức.</a:t>
            </a:r>
          </a:p>
        </p:txBody>
      </p:sp>
    </p:spTree>
    <p:extLst>
      <p:ext uri="{BB962C8B-B14F-4D97-AF65-F5344CB8AC3E}">
        <p14:creationId xmlns:p14="http://schemas.microsoft.com/office/powerpoint/2010/main" val="16485872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335A463-EB6D-43CF-8428-7BD7AF3BF13B}"/>
              </a:ext>
            </a:extLst>
          </p:cNvPr>
          <p:cNvSpPr>
            <a:spLocks xmlns:a="http://schemas.openxmlformats.org/drawingml/2006/main" noGrp="1"/>
          </p:cNvSpPr>
          <p:nvPr/>
        </p:nvSpPr>
        <p:spPr>
          <a:xfrm xmlns:a="http://schemas.openxmlformats.org/drawingml/2006/main">
            <a:off x="533400" y="247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CF4E12"/>
                </a:solidFill>
                <a:latin typeface="Arial"/>
                <a:ea typeface="Arial"/>
                <a:cs typeface="Arial"/>
              </a:defRPr>
            </a:pPr>
            <a:r>
              <a:rPr sz="1200" b="1">
                <a:solidFill>
                  <a:srgbClr val="CF4E12"/>
                </a:solidFill>
                <a:latin typeface="Arial"/>
                <a:ea typeface="Arial"/>
                <a:cs typeface="Arial"/>
              </a:rPr>
              <a:t>VNG SUPPORT   /   MLAI 2026   /   ĐỀ A</a:t>
            </a:r>
          </a:p>
        </p:txBody>
      </p:sp>
      <p:sp>
        <p:nvSpPr>
          <p:cNvPr id="2" name="">
            <a:extLst xmlns:a="http://schemas.openxmlformats.org/drawingml/2006/main">
              <a:ext uri="{FF2B5EF4-FFF2-40B4-BE49-F238E27FC236}">
                <a16:creationId xmlns:a16="http://schemas.microsoft.com/office/drawing/2014/main" id="{A00B0274-BA1B-479B-A04B-7D2521FB047F}"/>
              </a:ext>
            </a:extLst>
          </p:cNvPr>
          <p:cNvSpPr>
            <a:spLocks xmlns:a="http://schemas.openxmlformats.org/drawingml/2006/main" noGrp="1"/>
          </p:cNvSpPr>
          <p:nvPr/>
        </p:nvSpPr>
        <p:spPr>
          <a:xfrm xmlns:a="http://schemas.openxmlformats.org/drawingml/2006/main">
            <a:off x="533400" y="6858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02B38"/>
                </a:solidFill>
                <a:latin typeface="Arial"/>
                <a:ea typeface="Arial"/>
                <a:cs typeface="Arial"/>
              </a:defRPr>
            </a:pPr>
            <a:r>
              <a:rPr sz="3225" b="1">
                <a:solidFill>
                  <a:srgbClr val="202B38"/>
                </a:solidFill>
                <a:latin typeface="Arial"/>
                <a:ea typeface="Arial"/>
                <a:cs typeface="Arial"/>
              </a:rPr>
              <a:t>Luồng xử lý và quyền quyết định</a:t>
            </a:r>
          </a:p>
        </p:txBody>
      </p:sp>
      <p:sp>
        <p:nvSpPr>
          <p:cNvPr id="3" name="">
            <a:extLst xmlns:a="http://schemas.openxmlformats.org/drawingml/2006/main">
              <a:ext uri="{FF2B5EF4-FFF2-40B4-BE49-F238E27FC236}">
                <a16:creationId xmlns:a16="http://schemas.microsoft.com/office/drawing/2014/main" id="{7672983D-7372-4E13-9061-EB54A97D52F8}"/>
              </a:ext>
            </a:extLst>
          </p:cNvPr>
          <p:cNvSpPr>
            <a:spLocks xmlns:a="http://schemas.openxmlformats.org/drawingml/2006/main" noGrp="1"/>
          </p:cNvSpPr>
          <p:nvPr/>
        </p:nvSpPr>
        <p:spPr>
          <a:xfrm xmlns:a="http://schemas.openxmlformats.org/drawingml/2006/main">
            <a:off x="533400" y="1352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06D"/>
                </a:solidFill>
                <a:latin typeface="Arial"/>
                <a:ea typeface="Arial"/>
                <a:cs typeface="Arial"/>
              </a:defRPr>
            </a:pPr>
            <a:r>
              <a:rPr sz="1725" b="0">
                <a:solidFill>
                  <a:srgbClr val="52606D"/>
                </a:solidFill>
                <a:latin typeface="Arial"/>
                <a:ea typeface="Arial"/>
                <a:cs typeface="Arial"/>
              </a:rPr>
              <a:t>Input: phòng ban bắt buộc, vấn đề kỹ thuật; mã nhân viên tùy chọn, chưa dùng để xác thực.</a:t>
            </a:r>
          </a:p>
        </p:txBody>
      </p:sp>
      <p:sp>
        <p:nvSpPr>
          <p:cNvPr id="4" name="">
            <a:extLst xmlns:a="http://schemas.openxmlformats.org/drawingml/2006/main">
              <a:ext uri="{FF2B5EF4-FFF2-40B4-BE49-F238E27FC236}">
                <a16:creationId xmlns:a16="http://schemas.microsoft.com/office/drawing/2014/main" id="{B73490B7-7B49-4224-B9CC-1F6601922E06}"/>
              </a:ext>
            </a:extLst>
          </p:cNvPr>
          <p:cNvSpPr>
            <a:spLocks xmlns:a="http://schemas.openxmlformats.org/drawingml/2006/main" noGrp="1"/>
          </p:cNvSpPr>
          <p:nvPr/>
        </p:nvSpPr>
        <p:spPr>
          <a:xfrm xmlns:a="http://schemas.openxmlformats.org/drawingml/2006/main">
            <a:off x="11049000" y="64484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2 / 5</a:t>
            </a:r>
          </a:p>
        </p:txBody>
      </p:sp>
      <p:sp>
        <p:nvSpPr>
          <p:cNvPr id="5" name="">
            <a:extLst xmlns:a="http://schemas.openxmlformats.org/drawingml/2006/main">
              <a:ext uri="{FF2B5EF4-FFF2-40B4-BE49-F238E27FC236}">
                <a16:creationId xmlns:a16="http://schemas.microsoft.com/office/drawing/2014/main" id="{0BDF94E7-9361-4378-B940-B0F9B3BF76FB}"/>
              </a:ext>
            </a:extLst>
          </p:cNvPr>
          <p:cNvSpPr>
            <a:spLocks xmlns:a="http://schemas.openxmlformats.org/drawingml/2006/main" noGrp="1"/>
          </p:cNvSpPr>
          <p:nvPr/>
        </p:nvSpPr>
        <p:spPr>
          <a:xfrm xmlns:a="http://schemas.openxmlformats.org/drawingml/2006/main">
            <a:off x="533400" y="2057400"/>
            <a:ext cx="2571750" cy="800100"/>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6" name="">
            <a:extLst xmlns:a="http://schemas.openxmlformats.org/drawingml/2006/main">
              <a:ext uri="{FF2B5EF4-FFF2-40B4-BE49-F238E27FC236}">
                <a16:creationId xmlns:a16="http://schemas.microsoft.com/office/drawing/2014/main" id="{9C26A1F3-F475-46B7-A31A-6CDCCA027484}"/>
              </a:ext>
            </a:extLst>
          </p:cNvPr>
          <p:cNvSpPr>
            <a:spLocks xmlns:a="http://schemas.openxmlformats.org/drawingml/2006/main" noGrp="1"/>
          </p:cNvSpPr>
          <p:nvPr/>
        </p:nvSpPr>
        <p:spPr>
          <a:xfrm xmlns:a="http://schemas.openxmlformats.org/drawingml/2006/main">
            <a:off x="685800" y="2190750"/>
            <a:ext cx="2266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Nhập và</a:t>
            </a:r>
          </a:p>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xác nhận</a:t>
            </a:r>
          </a:p>
        </p:txBody>
      </p:sp>
      <p:sp>
        <p:nvSpPr>
          <p:cNvPr id="7" name="">
            <a:extLst xmlns:a="http://schemas.openxmlformats.org/drawingml/2006/main">
              <a:ext uri="{FF2B5EF4-FFF2-40B4-BE49-F238E27FC236}">
                <a16:creationId xmlns:a16="http://schemas.microsoft.com/office/drawing/2014/main" id="{A7EE7A77-569B-4E0F-951B-FBA8C3802C11}"/>
              </a:ext>
            </a:extLst>
          </p:cNvPr>
          <p:cNvSpPr>
            <a:spLocks xmlns:a="http://schemas.openxmlformats.org/drawingml/2006/main" noGrp="1"/>
          </p:cNvSpPr>
          <p:nvPr/>
        </p:nvSpPr>
        <p:spPr>
          <a:xfrm xmlns:a="http://schemas.openxmlformats.org/drawingml/2006/main">
            <a:off x="4810125" y="2057400"/>
            <a:ext cx="2571750" cy="800100"/>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8" name="">
            <a:extLst xmlns:a="http://schemas.openxmlformats.org/drawingml/2006/main">
              <a:ext uri="{FF2B5EF4-FFF2-40B4-BE49-F238E27FC236}">
                <a16:creationId xmlns:a16="http://schemas.microsoft.com/office/drawing/2014/main" id="{82B9FFCA-8CE6-4F63-A94B-CB7274C0AF26}"/>
              </a:ext>
            </a:extLst>
          </p:cNvPr>
          <p:cNvSpPr>
            <a:spLocks xmlns:a="http://schemas.openxmlformats.org/drawingml/2006/main" noGrp="1"/>
          </p:cNvSpPr>
          <p:nvPr/>
        </p:nvSpPr>
        <p:spPr>
          <a:xfrm xmlns:a="http://schemas.openxmlformats.org/drawingml/2006/main">
            <a:off x="4962525" y="2190750"/>
            <a:ext cx="2266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Ẩn dữ liệu</a:t>
            </a:r>
          </a:p>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Chuẩn hóa</a:t>
            </a:r>
          </a:p>
        </p:txBody>
      </p:sp>
      <p:sp>
        <p:nvSpPr>
          <p:cNvPr id="9" name="">
            <a:extLst xmlns:a="http://schemas.openxmlformats.org/drawingml/2006/main">
              <a:ext uri="{FF2B5EF4-FFF2-40B4-BE49-F238E27FC236}">
                <a16:creationId xmlns:a16="http://schemas.microsoft.com/office/drawing/2014/main" id="{C11254A8-52A9-40A3-A653-4C32F3C195B7}"/>
              </a:ext>
            </a:extLst>
          </p:cNvPr>
          <p:cNvSpPr>
            <a:spLocks xmlns:a="http://schemas.openxmlformats.org/drawingml/2006/main" noGrp="1"/>
          </p:cNvSpPr>
          <p:nvPr/>
        </p:nvSpPr>
        <p:spPr>
          <a:xfrm xmlns:a="http://schemas.openxmlformats.org/drawingml/2006/main">
            <a:off x="9086850" y="2057400"/>
            <a:ext cx="2571750" cy="800100"/>
          </a:xfrm>
          <a:prstGeom xmlns:a="http://schemas.openxmlformats.org/drawingml/2006/main" prst="rect">
            <a:avLst/>
          </a:prstGeom>
          <a:solidFill xmlns:a="http://schemas.openxmlformats.org/drawingml/2006/main">
            <a:srgbClr val="FFF1E6"/>
          </a:solidFill>
          <a:ln xmlns:a="http://schemas.openxmlformats.org/drawingml/2006/main" w="14288">
            <a:solidFill>
              <a:srgbClr val="CF4E12"/>
            </a:solidFill>
          </a:ln>
        </p:spPr>
      </p:sp>
      <p:sp>
        <p:nvSpPr>
          <p:cNvPr id="10" name="">
            <a:extLst xmlns:a="http://schemas.openxmlformats.org/drawingml/2006/main">
              <a:ext uri="{FF2B5EF4-FFF2-40B4-BE49-F238E27FC236}">
                <a16:creationId xmlns:a16="http://schemas.microsoft.com/office/drawing/2014/main" id="{F0EE31DC-3953-47BC-9BEA-8A1CBF15D632}"/>
              </a:ext>
            </a:extLst>
          </p:cNvPr>
          <p:cNvSpPr>
            <a:spLocks xmlns:a="http://schemas.openxmlformats.org/drawingml/2006/main" noGrp="1"/>
          </p:cNvSpPr>
          <p:nvPr/>
        </p:nvSpPr>
        <p:spPr>
          <a:xfrm xmlns:a="http://schemas.openxmlformats.org/drawingml/2006/main">
            <a:off x="9239250" y="2190750"/>
            <a:ext cx="2266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F4E12"/>
                </a:solidFill>
                <a:latin typeface="Arial"/>
                <a:ea typeface="Arial"/>
                <a:cs typeface="Arial"/>
              </a:defRPr>
            </a:pPr>
            <a:r>
              <a:rPr sz="1875" b="1">
                <a:solidFill>
                  <a:srgbClr val="CF4E12"/>
                </a:solidFill>
                <a:latin typeface="Arial"/>
                <a:ea typeface="Arial"/>
                <a:cs typeface="Arial"/>
              </a:rPr>
              <a:t>Áp dụng policy</a:t>
            </a:r>
          </a:p>
          <a:p xmlns:a="http://schemas.openxmlformats.org/drawingml/2006/main">
            <a:pPr>
              <a:defRPr sz="1875" b="1">
                <a:solidFill>
                  <a:srgbClr val="CF4E12"/>
                </a:solidFill>
                <a:latin typeface="Arial"/>
                <a:ea typeface="Arial"/>
                <a:cs typeface="Arial"/>
              </a:defRPr>
            </a:pPr>
            <a:r>
              <a:rPr sz="1875" b="1">
                <a:solidFill>
                  <a:srgbClr val="CF4E12"/>
                </a:solidFill>
                <a:latin typeface="Arial"/>
                <a:ea typeface="Arial"/>
                <a:cs typeface="Arial"/>
              </a:rPr>
              <a:t>theo quy tắc</a:t>
            </a:r>
          </a:p>
        </p:txBody>
      </p:sp>
      <p:cxnSp>
        <p:nvCxnSpPr>
          <p:cNvPr id="37" name=""/>
          <p:cNvCxnSpPr>
            <a:stCxn xmlns:a="http://schemas.openxmlformats.org/drawingml/2006/main" id="5" idx="3"/>
            <a:endCxn xmlns:a="http://schemas.openxmlformats.org/drawingml/2006/main" id="7" idx="1"/>
          </p:cNvCxnSpPr>
          <p:nvPr/>
        </p:nvCxnSpPr>
        <p:spPr>
          <a:xfrm xmlns:a="http://schemas.openxmlformats.org/drawingml/2006/main">
            <a:off x="3105150" y="2457450"/>
            <a:ext cx="1704975" cy="0"/>
          </a:xfrm>
          <a:prstGeom xmlns:a="http://schemas.openxmlformats.org/drawingml/2006/main" prst="straightConnector1">
            <a:avLst/>
          </a:prstGeom>
          <a:ln xmlns:a="http://schemas.openxmlformats.org/drawingml/2006/main" w="19050">
            <a:solidFill>
              <a:srgbClr val="52606D"/>
            </a:solidFill>
            <a:tailEnd type="triangle" w="sm" len="sm"/>
          </a:ln>
        </p:spPr>
      </p:cxnSp>
      <p:cxnSp>
        <p:nvCxnSpPr>
          <p:cNvPr id="38" name=""/>
          <p:cNvCxnSpPr>
            <a:stCxn xmlns:a="http://schemas.openxmlformats.org/drawingml/2006/main" id="7" idx="3"/>
            <a:endCxn xmlns:a="http://schemas.openxmlformats.org/drawingml/2006/main" id="9" idx="1"/>
          </p:cNvCxnSpPr>
          <p:nvPr/>
        </p:nvCxnSpPr>
        <p:spPr>
          <a:xfrm xmlns:a="http://schemas.openxmlformats.org/drawingml/2006/main">
            <a:off x="7381875" y="2457450"/>
            <a:ext cx="1704975" cy="0"/>
          </a:xfrm>
          <a:prstGeom xmlns:a="http://schemas.openxmlformats.org/drawingml/2006/main" prst="straightConnector1">
            <a:avLst/>
          </a:prstGeom>
          <a:ln xmlns:a="http://schemas.openxmlformats.org/drawingml/2006/main" w="19050">
            <a:solidFill>
              <a:srgbClr val="52606D"/>
            </a:solidFill>
            <a:tailEnd type="triangle" w="sm" len="sm"/>
          </a:ln>
        </p:spPr>
      </p:cxnSp>
      <p:sp>
        <p:nvSpPr>
          <p:cNvPr id="13" name="">
            <a:extLst xmlns:a="http://schemas.openxmlformats.org/drawingml/2006/main">
              <a:ext uri="{FF2B5EF4-FFF2-40B4-BE49-F238E27FC236}">
                <a16:creationId xmlns:a16="http://schemas.microsoft.com/office/drawing/2014/main" id="{3C15332A-F106-43AD-B936-58BC850DA26F}"/>
              </a:ext>
            </a:extLst>
          </p:cNvPr>
          <p:cNvSpPr>
            <a:spLocks xmlns:a="http://schemas.openxmlformats.org/drawingml/2006/main" noGrp="1"/>
          </p:cNvSpPr>
          <p:nvPr/>
        </p:nvSpPr>
        <p:spPr>
          <a:xfrm xmlns:a="http://schemas.openxmlformats.org/drawingml/2006/main">
            <a:off x="533400" y="3514725"/>
            <a:ext cx="3238500" cy="638175"/>
          </a:xfrm>
          <a:prstGeom xmlns:a="http://schemas.openxmlformats.org/drawingml/2006/main" prst="rect">
            <a:avLst/>
          </a:prstGeom>
          <a:solidFill xmlns:a="http://schemas.openxmlformats.org/drawingml/2006/main">
            <a:srgbClr val="FFFFFF"/>
          </a:solidFill>
          <a:ln xmlns:a="http://schemas.openxmlformats.org/drawingml/2006/main" w="14288">
            <a:solidFill>
              <a:srgbClr val="17644E"/>
            </a:solidFill>
          </a:ln>
        </p:spPr>
      </p:sp>
      <p:sp>
        <p:nvSpPr>
          <p:cNvPr id="14" name="">
            <a:extLst xmlns:a="http://schemas.openxmlformats.org/drawingml/2006/main">
              <a:ext uri="{FF2B5EF4-FFF2-40B4-BE49-F238E27FC236}">
                <a16:creationId xmlns:a16="http://schemas.microsoft.com/office/drawing/2014/main" id="{13AF31D8-4E09-4EEC-AC20-311283D8774A}"/>
              </a:ext>
            </a:extLst>
          </p:cNvPr>
          <p:cNvSpPr>
            <a:spLocks xmlns:a="http://schemas.openxmlformats.org/drawingml/2006/main" noGrp="1"/>
          </p:cNvSpPr>
          <p:nvPr/>
        </p:nvSpPr>
        <p:spPr>
          <a:xfrm xmlns:a="http://schemas.openxmlformats.org/drawingml/2006/main">
            <a:off x="685800" y="3648075"/>
            <a:ext cx="2933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44E"/>
                </a:solidFill>
                <a:latin typeface="Arial"/>
                <a:ea typeface="Arial"/>
                <a:cs typeface="Arial"/>
              </a:defRPr>
            </a:pPr>
            <a:r>
              <a:rPr sz="1875" b="1">
                <a:solidFill>
                  <a:srgbClr val="17644E"/>
                </a:solidFill>
                <a:latin typeface="Arial"/>
                <a:ea typeface="Arial"/>
                <a:cs typeface="Arial"/>
              </a:rPr>
              <a:t>Thường quy</a:t>
            </a:r>
          </a:p>
        </p:txBody>
      </p:sp>
      <p:sp>
        <p:nvSpPr>
          <p:cNvPr id="15" name="">
            <a:extLst xmlns:a="http://schemas.openxmlformats.org/drawingml/2006/main">
              <a:ext uri="{FF2B5EF4-FFF2-40B4-BE49-F238E27FC236}">
                <a16:creationId xmlns:a16="http://schemas.microsoft.com/office/drawing/2014/main" id="{ADFAAD9F-D4FF-4C86-9880-55FFDB7665AA}"/>
              </a:ext>
            </a:extLst>
          </p:cNvPr>
          <p:cNvSpPr>
            <a:spLocks xmlns:a="http://schemas.openxmlformats.org/drawingml/2006/main" noGrp="1"/>
          </p:cNvSpPr>
          <p:nvPr/>
        </p:nvSpPr>
        <p:spPr>
          <a:xfrm xmlns:a="http://schemas.openxmlformats.org/drawingml/2006/main">
            <a:off x="4476750" y="3514725"/>
            <a:ext cx="3238500" cy="638175"/>
          </a:xfrm>
          <a:prstGeom xmlns:a="http://schemas.openxmlformats.org/drawingml/2006/main" prst="rect">
            <a:avLst/>
          </a:prstGeom>
          <a:solidFill xmlns:a="http://schemas.openxmlformats.org/drawingml/2006/main">
            <a:srgbClr val="FFFFFF"/>
          </a:solidFill>
          <a:ln xmlns:a="http://schemas.openxmlformats.org/drawingml/2006/main" w="14288">
            <a:solidFill>
              <a:srgbClr val="285D84"/>
            </a:solidFill>
          </a:ln>
        </p:spPr>
      </p:sp>
      <p:sp>
        <p:nvSpPr>
          <p:cNvPr id="16" name="">
            <a:extLst xmlns:a="http://schemas.openxmlformats.org/drawingml/2006/main">
              <a:ext uri="{FF2B5EF4-FFF2-40B4-BE49-F238E27FC236}">
                <a16:creationId xmlns:a16="http://schemas.microsoft.com/office/drawing/2014/main" id="{6D511BA9-C7B9-4805-9366-64FF2502BA04}"/>
              </a:ext>
            </a:extLst>
          </p:cNvPr>
          <p:cNvSpPr>
            <a:spLocks xmlns:a="http://schemas.openxmlformats.org/drawingml/2006/main" noGrp="1"/>
          </p:cNvSpPr>
          <p:nvPr/>
        </p:nvSpPr>
        <p:spPr>
          <a:xfrm xmlns:a="http://schemas.openxmlformats.org/drawingml/2006/main">
            <a:off x="4629150" y="3648075"/>
            <a:ext cx="2933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85D84"/>
                </a:solidFill>
                <a:latin typeface="Arial"/>
                <a:ea typeface="Arial"/>
                <a:cs typeface="Arial"/>
              </a:defRPr>
            </a:pPr>
            <a:r>
              <a:rPr sz="1875" b="1">
                <a:solidFill>
                  <a:srgbClr val="285D84"/>
                </a:solidFill>
                <a:latin typeface="Arial"/>
                <a:ea typeface="Arial"/>
                <a:cs typeface="Arial"/>
              </a:rPr>
              <a:t>Thiếu thông tin</a:t>
            </a:r>
          </a:p>
        </p:txBody>
      </p:sp>
      <p:sp>
        <p:nvSpPr>
          <p:cNvPr id="17" name="">
            <a:extLst xmlns:a="http://schemas.openxmlformats.org/drawingml/2006/main">
              <a:ext uri="{FF2B5EF4-FFF2-40B4-BE49-F238E27FC236}">
                <a16:creationId xmlns:a16="http://schemas.microsoft.com/office/drawing/2014/main" id="{872A21F9-99F9-42CF-8E05-B79D8D1D227F}"/>
              </a:ext>
            </a:extLst>
          </p:cNvPr>
          <p:cNvSpPr>
            <a:spLocks xmlns:a="http://schemas.openxmlformats.org/drawingml/2006/main" noGrp="1"/>
          </p:cNvSpPr>
          <p:nvPr/>
        </p:nvSpPr>
        <p:spPr>
          <a:xfrm xmlns:a="http://schemas.openxmlformats.org/drawingml/2006/main">
            <a:off x="8420100" y="3514725"/>
            <a:ext cx="3238500" cy="638175"/>
          </a:xfrm>
          <a:prstGeom xmlns:a="http://schemas.openxmlformats.org/drawingml/2006/main" prst="rect">
            <a:avLst/>
          </a:prstGeom>
          <a:solidFill xmlns:a="http://schemas.openxmlformats.org/drawingml/2006/main">
            <a:srgbClr val="FFFFFF"/>
          </a:solidFill>
          <a:ln xmlns:a="http://schemas.openxmlformats.org/drawingml/2006/main" w="14288">
            <a:solidFill>
              <a:srgbClr val="A93434"/>
            </a:solidFill>
          </a:ln>
        </p:spPr>
      </p:sp>
      <p:sp>
        <p:nvSpPr>
          <p:cNvPr id="18" name="">
            <a:extLst xmlns:a="http://schemas.openxmlformats.org/drawingml/2006/main">
              <a:ext uri="{FF2B5EF4-FFF2-40B4-BE49-F238E27FC236}">
                <a16:creationId xmlns:a16="http://schemas.microsoft.com/office/drawing/2014/main" id="{6CED9739-D667-4111-9B16-6F0D18D7F776}"/>
              </a:ext>
            </a:extLst>
          </p:cNvPr>
          <p:cNvSpPr>
            <a:spLocks xmlns:a="http://schemas.openxmlformats.org/drawingml/2006/main" noGrp="1"/>
          </p:cNvSpPr>
          <p:nvPr/>
        </p:nvSpPr>
        <p:spPr>
          <a:xfrm xmlns:a="http://schemas.openxmlformats.org/drawingml/2006/main">
            <a:off x="8572500" y="3648075"/>
            <a:ext cx="2933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93434"/>
                </a:solidFill>
                <a:latin typeface="Arial"/>
                <a:ea typeface="Arial"/>
                <a:cs typeface="Arial"/>
              </a:defRPr>
            </a:pPr>
            <a:r>
              <a:rPr sz="1875" b="1">
                <a:solidFill>
                  <a:srgbClr val="A93434"/>
                </a:solidFill>
                <a:latin typeface="Arial"/>
                <a:ea typeface="Arial"/>
                <a:cs typeface="Arial"/>
              </a:rPr>
              <a:t>Rủi ro / vượt quyền</a:t>
            </a:r>
          </a:p>
        </p:txBody>
      </p:sp>
      <p:cxnSp>
        <p:nvCxnSpPr>
          <p:cNvPr id="45" name=""/>
          <p:cNvCxnSpPr>
            <a:stCxn xmlns:a="http://schemas.openxmlformats.org/drawingml/2006/main" id="9" idx="2"/>
            <a:endCxn xmlns:a="http://schemas.openxmlformats.org/drawingml/2006/main" id="13" idx="0"/>
          </p:cNvCxnSpPr>
          <p:nvPr/>
        </p:nvCxnSpPr>
        <p:spPr>
          <a:xfrm xmlns:a="http://schemas.openxmlformats.org/drawingml/2006/main" flipH="1">
            <a:off x="2152650" y="2857500"/>
            <a:ext cx="8220075" cy="657225"/>
          </a:xfrm>
          <a:prstGeom xmlns:a="http://schemas.openxmlformats.org/drawingml/2006/main" prst="bentConnector4">
            <a:avLst>
              <a:gd name="adj1" fmla="val 0"/>
              <a:gd name="adj2" fmla="val 50000"/>
            </a:avLst>
          </a:prstGeom>
          <a:ln xmlns:a="http://schemas.openxmlformats.org/drawingml/2006/main" w="19050">
            <a:solidFill>
              <a:srgbClr val="17644E"/>
            </a:solidFill>
            <a:tailEnd type="triangle" w="sm" len="sm"/>
          </a:ln>
        </p:spPr>
      </p:cxnSp>
      <p:cxnSp>
        <p:nvCxnSpPr>
          <p:cNvPr id="46" name=""/>
          <p:cNvCxnSpPr>
            <a:stCxn xmlns:a="http://schemas.openxmlformats.org/drawingml/2006/main" id="9" idx="2"/>
            <a:endCxn xmlns:a="http://schemas.openxmlformats.org/drawingml/2006/main" id="15" idx="0"/>
          </p:cNvCxnSpPr>
          <p:nvPr/>
        </p:nvCxnSpPr>
        <p:spPr>
          <a:xfrm xmlns:a="http://schemas.openxmlformats.org/drawingml/2006/main" flipH="1">
            <a:off x="6096000" y="2857500"/>
            <a:ext cx="4276725" cy="657225"/>
          </a:xfrm>
          <a:prstGeom xmlns:a="http://schemas.openxmlformats.org/drawingml/2006/main" prst="bentConnector4">
            <a:avLst>
              <a:gd name="adj1" fmla="val 0"/>
              <a:gd name="adj2" fmla="val 50000"/>
            </a:avLst>
          </a:prstGeom>
          <a:ln xmlns:a="http://schemas.openxmlformats.org/drawingml/2006/main" w="19050">
            <a:solidFill>
              <a:srgbClr val="285D84"/>
            </a:solidFill>
            <a:tailEnd type="triangle" w="sm" len="sm"/>
          </a:ln>
        </p:spPr>
      </p:cxnSp>
      <p:cxnSp>
        <p:nvCxnSpPr>
          <p:cNvPr id="47" name=""/>
          <p:cNvCxnSpPr>
            <a:stCxn xmlns:a="http://schemas.openxmlformats.org/drawingml/2006/main" id="9" idx="2"/>
            <a:endCxn xmlns:a="http://schemas.openxmlformats.org/drawingml/2006/main" id="17" idx="0"/>
          </p:cNvCxnSpPr>
          <p:nvPr/>
        </p:nvCxnSpPr>
        <p:spPr>
          <a:xfrm xmlns:a="http://schemas.openxmlformats.org/drawingml/2006/main" flipH="1">
            <a:off x="10039350" y="2857500"/>
            <a:ext cx="333375" cy="657225"/>
          </a:xfrm>
          <a:prstGeom xmlns:a="http://schemas.openxmlformats.org/drawingml/2006/main" prst="bentConnector4">
            <a:avLst>
              <a:gd name="adj1" fmla="val 0"/>
              <a:gd name="adj2" fmla="val 50000"/>
            </a:avLst>
          </a:prstGeom>
          <a:ln xmlns:a="http://schemas.openxmlformats.org/drawingml/2006/main" w="19050">
            <a:solidFill>
              <a:srgbClr val="A93434"/>
            </a:solidFill>
            <a:tailEnd type="triangle" w="sm" len="sm"/>
          </a:ln>
        </p:spPr>
      </p:cxnSp>
      <p:sp>
        <p:nvSpPr>
          <p:cNvPr id="22" name="">
            <a:extLst xmlns:a="http://schemas.openxmlformats.org/drawingml/2006/main">
              <a:ext uri="{FF2B5EF4-FFF2-40B4-BE49-F238E27FC236}">
                <a16:creationId xmlns:a16="http://schemas.microsoft.com/office/drawing/2014/main" id="{A7878A5C-2CD6-4FFF-A802-D0D886D6082A}"/>
              </a:ext>
            </a:extLst>
          </p:cNvPr>
          <p:cNvSpPr>
            <a:spLocks xmlns:a="http://schemas.openxmlformats.org/drawingml/2006/main" noGrp="1"/>
          </p:cNvSpPr>
          <p:nvPr/>
        </p:nvSpPr>
        <p:spPr>
          <a:xfrm xmlns:a="http://schemas.openxmlformats.org/drawingml/2006/main">
            <a:off x="533400" y="4333875"/>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644E"/>
                </a:solidFill>
                <a:latin typeface="Arial"/>
                <a:ea typeface="Arial"/>
                <a:cs typeface="Arial"/>
              </a:defRPr>
            </a:pPr>
            <a:r>
              <a:rPr sz="1800" b="0">
                <a:solidFill>
                  <a:srgbClr val="17644E"/>
                </a:solidFill>
                <a:latin typeface="Arial"/>
                <a:ea typeface="Arial"/>
                <a:cs typeface="Arial"/>
              </a:rPr>
              <a:t>Trả hướng dẫn an toàn</a:t>
            </a:r>
          </a:p>
          <a:p xmlns:a="http://schemas.openxmlformats.org/drawingml/2006/main">
            <a:pPr>
              <a:defRPr sz="1800" b="0">
                <a:solidFill>
                  <a:srgbClr val="17644E"/>
                </a:solidFill>
                <a:latin typeface="Arial"/>
                <a:ea typeface="Arial"/>
                <a:cs typeface="Arial"/>
              </a:defRPr>
            </a:pPr>
            <a:r>
              <a:rPr sz="1800" b="0">
                <a:solidFill>
                  <a:srgbClr val="17644E"/>
                </a:solidFill>
                <a:latin typeface="Arial"/>
                <a:ea typeface="Arial"/>
                <a:cs typeface="Arial"/>
              </a:rPr>
              <a:t>Người dùng thực hiện và phản hồi</a:t>
            </a:r>
          </a:p>
        </p:txBody>
      </p:sp>
      <p:sp>
        <p:nvSpPr>
          <p:cNvPr id="23" name="">
            <a:extLst xmlns:a="http://schemas.openxmlformats.org/drawingml/2006/main">
              <a:ext uri="{FF2B5EF4-FFF2-40B4-BE49-F238E27FC236}">
                <a16:creationId xmlns:a16="http://schemas.microsoft.com/office/drawing/2014/main" id="{E4849BEC-1101-426C-9FF1-923D1E333F16}"/>
              </a:ext>
            </a:extLst>
          </p:cNvPr>
          <p:cNvSpPr>
            <a:spLocks xmlns:a="http://schemas.openxmlformats.org/drawingml/2006/main" noGrp="1"/>
          </p:cNvSpPr>
          <p:nvPr/>
        </p:nvSpPr>
        <p:spPr>
          <a:xfrm xmlns:a="http://schemas.openxmlformats.org/drawingml/2006/main">
            <a:off x="4476750" y="4333875"/>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85D84"/>
                </a:solidFill>
                <a:latin typeface="Arial"/>
                <a:ea typeface="Arial"/>
                <a:cs typeface="Arial"/>
              </a:defRPr>
            </a:pPr>
            <a:r>
              <a:rPr sz="1800" b="0">
                <a:solidFill>
                  <a:srgbClr val="285D84"/>
                </a:solidFill>
                <a:latin typeface="Arial"/>
                <a:ea typeface="Arial"/>
                <a:cs typeface="Arial"/>
              </a:rPr>
              <a:t>Hỏi đúng dữ kiện thiếu</a:t>
            </a:r>
          </a:p>
          <a:p xmlns:a="http://schemas.openxmlformats.org/drawingml/2006/main">
            <a:pPr>
              <a:defRPr sz="1800" b="0">
                <a:solidFill>
                  <a:srgbClr val="285D84"/>
                </a:solidFill>
                <a:latin typeface="Arial"/>
                <a:ea typeface="Arial"/>
                <a:cs typeface="Arial"/>
              </a:defRPr>
            </a:pPr>
            <a:r>
              <a:rPr sz="1800" b="0">
                <a:solidFill>
                  <a:srgbClr val="285D84"/>
                </a:solidFill>
                <a:latin typeface="Arial"/>
                <a:ea typeface="Arial"/>
                <a:cs typeface="Arial"/>
              </a:rPr>
              <a:t>Bổ sung rồi đánh giá lại</a:t>
            </a:r>
          </a:p>
        </p:txBody>
      </p:sp>
      <p:sp>
        <p:nvSpPr>
          <p:cNvPr id="24" name="">
            <a:extLst xmlns:a="http://schemas.openxmlformats.org/drawingml/2006/main">
              <a:ext uri="{FF2B5EF4-FFF2-40B4-BE49-F238E27FC236}">
                <a16:creationId xmlns:a16="http://schemas.microsoft.com/office/drawing/2014/main" id="{A60F597D-E146-4C09-99FA-4101D3D681E0}"/>
              </a:ext>
            </a:extLst>
          </p:cNvPr>
          <p:cNvSpPr>
            <a:spLocks xmlns:a="http://schemas.openxmlformats.org/drawingml/2006/main" noGrp="1"/>
          </p:cNvSpPr>
          <p:nvPr/>
        </p:nvSpPr>
        <p:spPr>
          <a:xfrm xmlns:a="http://schemas.openxmlformats.org/drawingml/2006/main">
            <a:off x="8420100" y="4333875"/>
            <a:ext cx="323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93434"/>
                </a:solidFill>
                <a:latin typeface="Arial"/>
                <a:ea typeface="Arial"/>
                <a:cs typeface="Arial"/>
              </a:defRPr>
            </a:pPr>
            <a:r>
              <a:rPr sz="1800" b="0">
                <a:solidFill>
                  <a:srgbClr val="A93434"/>
                </a:solidFill>
                <a:latin typeface="Arial"/>
                <a:ea typeface="Arial"/>
                <a:cs typeface="Arial"/>
              </a:rPr>
              <a:t>Nhân viên xem xét</a:t>
            </a:r>
          </a:p>
          <a:p xmlns:a="http://schemas.openxmlformats.org/drawingml/2006/main">
            <a:pPr>
              <a:defRPr sz="1800" b="0">
                <a:solidFill>
                  <a:srgbClr val="A93434"/>
                </a:solidFill>
                <a:latin typeface="Arial"/>
                <a:ea typeface="Arial"/>
                <a:cs typeface="Arial"/>
              </a:defRPr>
            </a:pPr>
            <a:r>
              <a:rPr sz="1800" b="0">
                <a:solidFill>
                  <a:srgbClr val="A93434"/>
                </a:solidFill>
                <a:latin typeface="Arial"/>
                <a:ea typeface="Arial"/>
                <a:cs typeface="Arial"/>
              </a:rPr>
              <a:t>Hỏi thêm, từ chối, dừng hoặc</a:t>
            </a:r>
          </a:p>
          <a:p xmlns:a="http://schemas.openxmlformats.org/drawingml/2006/main">
            <a:pPr>
              <a:defRPr sz="1800" b="0">
                <a:solidFill>
                  <a:srgbClr val="A93434"/>
                </a:solidFill>
                <a:latin typeface="Arial"/>
                <a:ea typeface="Arial"/>
                <a:cs typeface="Arial"/>
              </a:defRPr>
            </a:pPr>
            <a:r>
              <a:rPr sz="1800" b="0">
                <a:solidFill>
                  <a:srgbClr val="A93434"/>
                </a:solidFill>
                <a:latin typeface="Arial"/>
                <a:ea typeface="Arial"/>
                <a:cs typeface="Arial"/>
              </a:rPr>
              <a:t>điều chỉnh trong phạm vi cho phép</a:t>
            </a:r>
          </a:p>
        </p:txBody>
      </p:sp>
      <p:sp>
        <p:nvSpPr>
          <p:cNvPr id="25" name="">
            <a:extLst xmlns:a="http://schemas.openxmlformats.org/drawingml/2006/main">
              <a:ext uri="{FF2B5EF4-FFF2-40B4-BE49-F238E27FC236}">
                <a16:creationId xmlns:a16="http://schemas.microsoft.com/office/drawing/2014/main" id="{B2BDB51F-0A14-4909-AAEE-9AB59625D2B1}"/>
              </a:ext>
            </a:extLst>
          </p:cNvPr>
          <p:cNvSpPr>
            <a:spLocks xmlns:a="http://schemas.openxmlformats.org/drawingml/2006/main" noGrp="1"/>
          </p:cNvSpPr>
          <p:nvPr/>
        </p:nvSpPr>
        <p:spPr>
          <a:xfrm xmlns:a="http://schemas.openxmlformats.org/drawingml/2006/main">
            <a:off x="533400" y="5657850"/>
            <a:ext cx="11125200" cy="0"/>
          </a:xfrm>
          <a:prstGeom xmlns:a="http://schemas.openxmlformats.org/drawingml/2006/main" prst="line">
            <a:avLst/>
          </a:prstGeom>
          <a:noFill xmlns:a="http://schemas.openxmlformats.org/drawingml/2006/main"/>
          <a:ln xmlns:a="http://schemas.openxmlformats.org/drawingml/2006/main" w="14288">
            <a:solidFill>
              <a:srgbClr val="D0D5DA"/>
            </a:solidFill>
          </a:ln>
        </p:spPr>
      </p:sp>
      <p:sp>
        <p:nvSpPr>
          <p:cNvPr id="26" name="">
            <a:extLst xmlns:a="http://schemas.openxmlformats.org/drawingml/2006/main">
              <a:ext uri="{FF2B5EF4-FFF2-40B4-BE49-F238E27FC236}">
                <a16:creationId xmlns:a16="http://schemas.microsoft.com/office/drawing/2014/main" id="{03AC855F-04A7-4860-9F81-9C57199E1AB8}"/>
              </a:ext>
            </a:extLst>
          </p:cNvPr>
          <p:cNvSpPr>
            <a:spLocks xmlns:a="http://schemas.openxmlformats.org/drawingml/2006/main" noGrp="1"/>
          </p:cNvSpPr>
          <p:nvPr/>
        </p:nvSpPr>
        <p:spPr>
          <a:xfrm xmlns:a="http://schemas.openxmlformats.org/drawingml/2006/main">
            <a:off x="533400" y="5848350"/>
            <a:ext cx="11001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B38"/>
                </a:solidFill>
                <a:latin typeface="Arial"/>
                <a:ea typeface="Arial"/>
                <a:cs typeface="Arial"/>
              </a:defRPr>
            </a:pPr>
            <a:r>
              <a:rPr sz="1800" b="0">
                <a:solidFill>
                  <a:srgbClr val="202B38"/>
                </a:solidFill>
                <a:latin typeface="Arial"/>
                <a:ea typeface="Arial"/>
                <a:cs typeface="Arial"/>
              </a:rPr>
              <a:t>Đầu ra: hướng dẫn, câu hỏi bổ sung hoặc request chờ review; lưu lý do và lịch sử vào audit.</a:t>
            </a:r>
          </a:p>
        </p:txBody>
      </p:sp>
    </p:spTree>
    <p:extLst>
      <p:ext uri="{BB962C8B-B14F-4D97-AF65-F5344CB8AC3E}">
        <p14:creationId xmlns:p14="http://schemas.microsoft.com/office/powerpoint/2010/main" val="1077233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31874B5-0C13-4A9B-B619-B9486D36DC72}"/>
              </a:ext>
            </a:extLst>
          </p:cNvPr>
          <p:cNvSpPr>
            <a:spLocks xmlns:a="http://schemas.openxmlformats.org/drawingml/2006/main" noGrp="1"/>
          </p:cNvSpPr>
          <p:nvPr/>
        </p:nvSpPr>
        <p:spPr>
          <a:xfrm xmlns:a="http://schemas.openxmlformats.org/drawingml/2006/main">
            <a:off x="533400" y="247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CF4E12"/>
                </a:solidFill>
                <a:latin typeface="Arial"/>
                <a:ea typeface="Arial"/>
                <a:cs typeface="Arial"/>
              </a:defRPr>
            </a:pPr>
            <a:r>
              <a:rPr sz="1200" b="1">
                <a:solidFill>
                  <a:srgbClr val="CF4E12"/>
                </a:solidFill>
                <a:latin typeface="Arial"/>
                <a:ea typeface="Arial"/>
                <a:cs typeface="Arial"/>
              </a:rPr>
              <a:t>VNG SUPPORT   /   MLAI 2026   /   ĐỀ A</a:t>
            </a:r>
          </a:p>
        </p:txBody>
      </p:sp>
      <p:sp>
        <p:nvSpPr>
          <p:cNvPr id="2" name="">
            <a:extLst xmlns:a="http://schemas.openxmlformats.org/drawingml/2006/main">
              <a:ext uri="{FF2B5EF4-FFF2-40B4-BE49-F238E27FC236}">
                <a16:creationId xmlns:a16="http://schemas.microsoft.com/office/drawing/2014/main" id="{81128332-AAE0-496A-B796-ADB6320D25EB}"/>
              </a:ext>
            </a:extLst>
          </p:cNvPr>
          <p:cNvSpPr>
            <a:spLocks xmlns:a="http://schemas.openxmlformats.org/drawingml/2006/main" noGrp="1"/>
          </p:cNvSpPr>
          <p:nvPr/>
        </p:nvSpPr>
        <p:spPr>
          <a:xfrm xmlns:a="http://schemas.openxmlformats.org/drawingml/2006/main">
            <a:off x="533400" y="6858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02B38"/>
                </a:solidFill>
                <a:latin typeface="Arial"/>
                <a:ea typeface="Arial"/>
                <a:cs typeface="Arial"/>
              </a:defRPr>
            </a:pPr>
            <a:r>
              <a:rPr sz="3225" b="1">
                <a:solidFill>
                  <a:srgbClr val="202B38"/>
                </a:solidFill>
                <a:latin typeface="Arial"/>
                <a:ea typeface="Arial"/>
                <a:cs typeface="Arial"/>
              </a:rPr>
              <a:t>Đối chiếu workflow và phương pháp đo</a:t>
            </a:r>
          </a:p>
        </p:txBody>
      </p:sp>
      <p:sp>
        <p:nvSpPr>
          <p:cNvPr id="3" name="">
            <a:extLst xmlns:a="http://schemas.openxmlformats.org/drawingml/2006/main">
              <a:ext uri="{FF2B5EF4-FFF2-40B4-BE49-F238E27FC236}">
                <a16:creationId xmlns:a16="http://schemas.microsoft.com/office/drawing/2014/main" id="{F2FBC2CF-2C74-4281-9792-64377596D929}"/>
              </a:ext>
            </a:extLst>
          </p:cNvPr>
          <p:cNvSpPr>
            <a:spLocks xmlns:a="http://schemas.openxmlformats.org/drawingml/2006/main" noGrp="1"/>
          </p:cNvSpPr>
          <p:nvPr/>
        </p:nvSpPr>
        <p:spPr>
          <a:xfrm xmlns:a="http://schemas.openxmlformats.org/drawingml/2006/main">
            <a:off x="533400" y="1352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06D"/>
                </a:solidFill>
                <a:latin typeface="Arial"/>
                <a:ea typeface="Arial"/>
                <a:cs typeface="Arial"/>
              </a:defRPr>
            </a:pPr>
            <a:r>
              <a:rPr sz="1725" b="0">
                <a:solidFill>
                  <a:srgbClr val="52606D"/>
                </a:solidFill>
                <a:latin typeface="Arial"/>
                <a:ea typeface="Arial"/>
                <a:cs typeface="Arial"/>
              </a:rPr>
              <a:t>Sprint 1: phương pháp dự kiến. Chưa có số đo trước/sau hoặc phản hồi của ba người dùng thật.</a:t>
            </a:r>
          </a:p>
        </p:txBody>
      </p:sp>
      <p:sp>
        <p:nvSpPr>
          <p:cNvPr id="4" name="">
            <a:extLst xmlns:a="http://schemas.openxmlformats.org/drawingml/2006/main">
              <a:ext uri="{FF2B5EF4-FFF2-40B4-BE49-F238E27FC236}">
                <a16:creationId xmlns:a16="http://schemas.microsoft.com/office/drawing/2014/main" id="{13C57E4A-E8D4-4B5D-AD93-BDB90DD531CF}"/>
              </a:ext>
            </a:extLst>
          </p:cNvPr>
          <p:cNvSpPr>
            <a:spLocks xmlns:a="http://schemas.openxmlformats.org/drawingml/2006/main" noGrp="1"/>
          </p:cNvSpPr>
          <p:nvPr/>
        </p:nvSpPr>
        <p:spPr>
          <a:xfrm xmlns:a="http://schemas.openxmlformats.org/drawingml/2006/main">
            <a:off x="11049000" y="64484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3 / 5</a:t>
            </a:r>
          </a:p>
        </p:txBody>
      </p:sp>
      <p:sp>
        <p:nvSpPr>
          <p:cNvPr id="5" name="">
            <a:extLst xmlns:a="http://schemas.openxmlformats.org/drawingml/2006/main">
              <a:ext uri="{FF2B5EF4-FFF2-40B4-BE49-F238E27FC236}">
                <a16:creationId xmlns:a16="http://schemas.microsoft.com/office/drawing/2014/main" id="{C21F7E90-270B-4574-A39B-C5705974C919}"/>
              </a:ext>
            </a:extLst>
          </p:cNvPr>
          <p:cNvSpPr>
            <a:spLocks xmlns:a="http://schemas.openxmlformats.org/drawingml/2006/main" noGrp="1"/>
          </p:cNvSpPr>
          <p:nvPr/>
        </p:nvSpPr>
        <p:spPr>
          <a:xfrm xmlns:a="http://schemas.openxmlformats.org/drawingml/2006/main">
            <a:off x="533400" y="20955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B38"/>
                </a:solidFill>
                <a:latin typeface="Arial"/>
                <a:ea typeface="Arial"/>
                <a:cs typeface="Arial"/>
              </a:defRPr>
            </a:pPr>
            <a:r>
              <a:rPr sz="2175" b="1">
                <a:solidFill>
                  <a:srgbClr val="202B38"/>
                </a:solidFill>
                <a:latin typeface="Arial"/>
                <a:ea typeface="Arial"/>
                <a:cs typeface="Arial"/>
              </a:rPr>
              <a:t>Trước: quy trình hiện tại</a:t>
            </a:r>
          </a:p>
        </p:txBody>
      </p:sp>
      <p:sp>
        <p:nvSpPr>
          <p:cNvPr id="6" name="">
            <a:extLst xmlns:a="http://schemas.openxmlformats.org/drawingml/2006/main">
              <a:ext uri="{FF2B5EF4-FFF2-40B4-BE49-F238E27FC236}">
                <a16:creationId xmlns:a16="http://schemas.microsoft.com/office/drawing/2014/main" id="{4C14304E-3928-4696-87E7-135E0322CE7C}"/>
              </a:ext>
            </a:extLst>
          </p:cNvPr>
          <p:cNvSpPr>
            <a:spLocks xmlns:a="http://schemas.openxmlformats.org/drawingml/2006/main" noGrp="1"/>
          </p:cNvSpPr>
          <p:nvPr/>
        </p:nvSpPr>
        <p:spPr>
          <a:xfrm xmlns:a="http://schemas.openxmlformats.org/drawingml/2006/main">
            <a:off x="533400" y="2590800"/>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B38"/>
                </a:solidFill>
                <a:latin typeface="Arial"/>
                <a:ea typeface="Arial"/>
                <a:cs typeface="Arial"/>
              </a:defRPr>
            </a:pPr>
            <a:r>
              <a:rPr sz="1875" b="0">
                <a:solidFill>
                  <a:srgbClr val="202B38"/>
                </a:solidFill>
                <a:latin typeface="Arial"/>
                <a:ea typeface="Arial"/>
                <a:cs typeface="Arial"/>
              </a:rPr>
              <a:t>Người tiếp nhận đọc, hỏi thêm và bàn giao.</a:t>
            </a:r>
          </a:p>
          <a:p xmlns:a="http://schemas.openxmlformats.org/drawingml/2006/main">
            <a:pPr>
              <a:defRPr sz="1875" b="0">
                <a:solidFill>
                  <a:srgbClr val="202B38"/>
                </a:solidFill>
                <a:latin typeface="Arial"/>
                <a:ea typeface="Arial"/>
                <a:cs typeface="Arial"/>
              </a:defRPr>
            </a:pPr>
            <a:r>
              <a:rPr sz="1875" b="0">
                <a:solidFill>
                  <a:srgbClr val="202B38"/>
                </a:solidFill>
                <a:latin typeface="Arial"/>
                <a:ea typeface="Arial"/>
                <a:cs typeface="Arial"/>
              </a:rPr>
              <a:t>Cần quan sát cả thời gian làm việc và chờ.</a:t>
            </a:r>
          </a:p>
        </p:txBody>
      </p:sp>
      <p:sp>
        <p:nvSpPr>
          <p:cNvPr id="7" name="">
            <a:extLst xmlns:a="http://schemas.openxmlformats.org/drawingml/2006/main">
              <a:ext uri="{FF2B5EF4-FFF2-40B4-BE49-F238E27FC236}">
                <a16:creationId xmlns:a16="http://schemas.microsoft.com/office/drawing/2014/main" id="{E2D2E64E-1E14-4B4C-BDCD-A09498AB18C6}"/>
              </a:ext>
            </a:extLst>
          </p:cNvPr>
          <p:cNvSpPr>
            <a:spLocks xmlns:a="http://schemas.openxmlformats.org/drawingml/2006/main" noGrp="1"/>
          </p:cNvSpPr>
          <p:nvPr/>
        </p:nvSpPr>
        <p:spPr>
          <a:xfrm xmlns:a="http://schemas.openxmlformats.org/drawingml/2006/main">
            <a:off x="6419850" y="20955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F4E12"/>
                </a:solidFill>
                <a:latin typeface="Arial"/>
                <a:ea typeface="Arial"/>
                <a:cs typeface="Arial"/>
              </a:defRPr>
            </a:pPr>
            <a:r>
              <a:rPr sz="2175" b="1">
                <a:solidFill>
                  <a:srgbClr val="CF4E12"/>
                </a:solidFill>
                <a:latin typeface="Arial"/>
                <a:ea typeface="Arial"/>
                <a:cs typeface="Arial"/>
              </a:rPr>
              <a:t>Sau: workflow đề xuất</a:t>
            </a:r>
          </a:p>
        </p:txBody>
      </p:sp>
      <p:sp>
        <p:nvSpPr>
          <p:cNvPr id="8" name="">
            <a:extLst xmlns:a="http://schemas.openxmlformats.org/drawingml/2006/main">
              <a:ext uri="{FF2B5EF4-FFF2-40B4-BE49-F238E27FC236}">
                <a16:creationId xmlns:a16="http://schemas.microsoft.com/office/drawing/2014/main" id="{21B31FC6-5EE5-4CBE-AEA9-F46F3085C148}"/>
              </a:ext>
            </a:extLst>
          </p:cNvPr>
          <p:cNvSpPr>
            <a:spLocks xmlns:a="http://schemas.openxmlformats.org/drawingml/2006/main" noGrp="1"/>
          </p:cNvSpPr>
          <p:nvPr/>
        </p:nvSpPr>
        <p:spPr>
          <a:xfrm xmlns:a="http://schemas.openxmlformats.org/drawingml/2006/main">
            <a:off x="6419850" y="2590800"/>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B38"/>
                </a:solidFill>
                <a:latin typeface="Arial"/>
                <a:ea typeface="Arial"/>
                <a:cs typeface="Arial"/>
              </a:defRPr>
            </a:pPr>
            <a:r>
              <a:rPr sz="1875" b="0">
                <a:solidFill>
                  <a:srgbClr val="202B38"/>
                </a:solidFill>
                <a:latin typeface="Arial"/>
                <a:ea typeface="Arial"/>
                <a:cs typeface="Arial"/>
              </a:rPr>
              <a:t>Routine nhận hướng dẫn; ngoại lệ tới reviewer</a:t>
            </a:r>
          </a:p>
          <a:p xmlns:a="http://schemas.openxmlformats.org/drawingml/2006/main">
            <a:pPr>
              <a:defRPr sz="1875" b="0">
                <a:solidFill>
                  <a:srgbClr val="202B38"/>
                </a:solidFill>
                <a:latin typeface="Arial"/>
                <a:ea typeface="Arial"/>
                <a:cs typeface="Arial"/>
              </a:defRPr>
            </a:pPr>
            <a:r>
              <a:rPr sz="1875" b="0">
                <a:solidFill>
                  <a:srgbClr val="202B38"/>
                </a:solidFill>
                <a:latin typeface="Arial"/>
                <a:ea typeface="Arial"/>
                <a:cs typeface="Arial"/>
              </a:rPr>
              <a:t>kèm dữ kiện, lý do và lịch sử.</a:t>
            </a:r>
          </a:p>
        </p:txBody>
      </p:sp>
      <p:sp>
        <p:nvSpPr>
          <p:cNvPr id="9" name="">
            <a:extLst xmlns:a="http://schemas.openxmlformats.org/drawingml/2006/main">
              <a:ext uri="{FF2B5EF4-FFF2-40B4-BE49-F238E27FC236}">
                <a16:creationId xmlns:a16="http://schemas.microsoft.com/office/drawing/2014/main" id="{8A1FCF86-3BDA-4AF6-A668-A87744DE4456}"/>
              </a:ext>
            </a:extLst>
          </p:cNvPr>
          <p:cNvSpPr>
            <a:spLocks xmlns:a="http://schemas.openxmlformats.org/drawingml/2006/main" noGrp="1"/>
          </p:cNvSpPr>
          <p:nvPr/>
        </p:nvSpPr>
        <p:spPr>
          <a:xfrm xmlns:a="http://schemas.openxmlformats.org/drawingml/2006/main">
            <a:off x="533400" y="3629025"/>
            <a:ext cx="11125200" cy="0"/>
          </a:xfrm>
          <a:prstGeom xmlns:a="http://schemas.openxmlformats.org/drawingml/2006/main" prst="line">
            <a:avLst/>
          </a:prstGeom>
          <a:noFill xmlns:a="http://schemas.openxmlformats.org/drawingml/2006/main"/>
          <a:ln xmlns:a="http://schemas.openxmlformats.org/drawingml/2006/main" w="14288">
            <a:solidFill>
              <a:srgbClr val="D0D5DA"/>
            </a:solidFill>
          </a:ln>
        </p:spPr>
      </p:sp>
      <p:sp>
        <p:nvSpPr>
          <p:cNvPr id="10" name="">
            <a:extLst xmlns:a="http://schemas.openxmlformats.org/drawingml/2006/main">
              <a:ext uri="{FF2B5EF4-FFF2-40B4-BE49-F238E27FC236}">
                <a16:creationId xmlns:a16="http://schemas.microsoft.com/office/drawing/2014/main" id="{45EBE3AA-3BA8-4CA9-9016-E28BEF04587D}"/>
              </a:ext>
            </a:extLst>
          </p:cNvPr>
          <p:cNvSpPr>
            <a:spLocks xmlns:a="http://schemas.openxmlformats.org/drawingml/2006/main" noGrp="1"/>
          </p:cNvSpPr>
          <p:nvPr/>
        </p:nvSpPr>
        <p:spPr>
          <a:xfrm xmlns:a="http://schemas.openxmlformats.org/drawingml/2006/main">
            <a:off x="533400" y="3952875"/>
            <a:ext cx="3067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F4E12"/>
                </a:solidFill>
                <a:latin typeface="Arial"/>
                <a:ea typeface="Arial"/>
                <a:cs typeface="Arial"/>
              </a:defRPr>
            </a:pPr>
            <a:r>
              <a:rPr sz="2100" b="1">
                <a:solidFill>
                  <a:srgbClr val="CF4E12"/>
                </a:solidFill>
                <a:latin typeface="Arial"/>
                <a:ea typeface="Arial"/>
                <a:cs typeface="Arial"/>
              </a:rPr>
              <a:t>Cách thử</a:t>
            </a:r>
          </a:p>
        </p:txBody>
      </p:sp>
      <p:sp>
        <p:nvSpPr>
          <p:cNvPr id="11" name="">
            <a:extLst xmlns:a="http://schemas.openxmlformats.org/drawingml/2006/main">
              <a:ext uri="{FF2B5EF4-FFF2-40B4-BE49-F238E27FC236}">
                <a16:creationId xmlns:a16="http://schemas.microsoft.com/office/drawing/2014/main" id="{2E864629-2D4B-4C96-81BA-018BE9067445}"/>
              </a:ext>
            </a:extLst>
          </p:cNvPr>
          <p:cNvSpPr>
            <a:spLocks xmlns:a="http://schemas.openxmlformats.org/drawingml/2006/main" noGrp="1"/>
          </p:cNvSpPr>
          <p:nvPr/>
        </p:nvSpPr>
        <p:spPr>
          <a:xfrm xmlns:a="http://schemas.openxmlformats.org/drawingml/2006/main">
            <a:off x="533400" y="4429125"/>
            <a:ext cx="323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B38"/>
                </a:solidFill>
                <a:latin typeface="Arial"/>
                <a:ea typeface="Arial"/>
                <a:cs typeface="Arial"/>
              </a:defRPr>
            </a:pPr>
            <a:r>
              <a:rPr sz="1800" b="0">
                <a:solidFill>
                  <a:srgbClr val="202B38"/>
                </a:solidFill>
                <a:latin typeface="Arial"/>
                <a:ea typeface="Arial"/>
                <a:cs typeface="Arial"/>
              </a:rPr>
              <a:t>3 nhân sự có đồng thuận.</a:t>
            </a:r>
          </a:p>
          <a:p xmlns:a="http://schemas.openxmlformats.org/drawingml/2006/main">
            <a:pPr>
              <a:defRPr sz="1800" b="0">
                <a:solidFill>
                  <a:srgbClr val="202B38"/>
                </a:solidFill>
                <a:latin typeface="Arial"/>
                <a:ea typeface="Arial"/>
                <a:cs typeface="Arial"/>
              </a:defRPr>
            </a:pPr>
            <a:r>
              <a:rPr sz="1800" b="0">
                <a:solidFill>
                  <a:srgbClr val="202B38"/>
                </a:solidFill>
                <a:latin typeface="Arial"/>
                <a:ea typeface="Arial"/>
                <a:cs typeface="Arial"/>
              </a:rPr>
              <a:t>Hai luồng, tác vụ tương đương.</a:t>
            </a:r>
          </a:p>
          <a:p xmlns:a="http://schemas.openxmlformats.org/drawingml/2006/main">
            <a:pPr>
              <a:defRPr sz="1800" b="0">
                <a:solidFill>
                  <a:srgbClr val="202B38"/>
                </a:solidFill>
                <a:latin typeface="Arial"/>
                <a:ea typeface="Arial"/>
                <a:cs typeface="Arial"/>
              </a:defRPr>
            </a:pPr>
            <a:r>
              <a:rPr sz="1800" b="0">
                <a:solidFill>
                  <a:srgbClr val="202B38"/>
                </a:solidFill>
                <a:latin typeface="Arial"/>
                <a:ea typeface="Arial"/>
                <a:cs typeface="Arial"/>
              </a:rPr>
              <a:t>Đảo thứ tự thử nghiệm.</a:t>
            </a:r>
          </a:p>
        </p:txBody>
      </p:sp>
      <p:sp>
        <p:nvSpPr>
          <p:cNvPr id="12" name="">
            <a:extLst xmlns:a="http://schemas.openxmlformats.org/drawingml/2006/main">
              <a:ext uri="{FF2B5EF4-FFF2-40B4-BE49-F238E27FC236}">
                <a16:creationId xmlns:a16="http://schemas.microsoft.com/office/drawing/2014/main" id="{875F88FC-B2C7-471B-A0D1-B474CD932E92}"/>
              </a:ext>
            </a:extLst>
          </p:cNvPr>
          <p:cNvSpPr>
            <a:spLocks xmlns:a="http://schemas.openxmlformats.org/drawingml/2006/main" noGrp="1"/>
          </p:cNvSpPr>
          <p:nvPr/>
        </p:nvSpPr>
        <p:spPr>
          <a:xfrm xmlns:a="http://schemas.openxmlformats.org/drawingml/2006/main">
            <a:off x="4476750" y="395287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F4E12"/>
                </a:solidFill>
                <a:latin typeface="Arial"/>
                <a:ea typeface="Arial"/>
                <a:cs typeface="Arial"/>
              </a:defRPr>
            </a:pPr>
            <a:r>
              <a:rPr sz="2100" b="1">
                <a:solidFill>
                  <a:srgbClr val="CF4E12"/>
                </a:solidFill>
                <a:latin typeface="Arial"/>
                <a:ea typeface="Arial"/>
                <a:cs typeface="Arial"/>
              </a:rPr>
              <a:t>Số đo theo request</a:t>
            </a:r>
          </a:p>
        </p:txBody>
      </p:sp>
      <p:sp>
        <p:nvSpPr>
          <p:cNvPr id="13" name="">
            <a:extLst xmlns:a="http://schemas.openxmlformats.org/drawingml/2006/main">
              <a:ext uri="{FF2B5EF4-FFF2-40B4-BE49-F238E27FC236}">
                <a16:creationId xmlns:a16="http://schemas.microsoft.com/office/drawing/2014/main" id="{9A617B48-D7AB-4C61-B0C8-7AC99CAA3CFD}"/>
              </a:ext>
            </a:extLst>
          </p:cNvPr>
          <p:cNvSpPr>
            <a:spLocks xmlns:a="http://schemas.openxmlformats.org/drawingml/2006/main" noGrp="1"/>
          </p:cNvSpPr>
          <p:nvPr/>
        </p:nvSpPr>
        <p:spPr>
          <a:xfrm xmlns:a="http://schemas.openxmlformats.org/drawingml/2006/main">
            <a:off x="4476750" y="4429125"/>
            <a:ext cx="323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B38"/>
                </a:solidFill>
                <a:latin typeface="Arial"/>
                <a:ea typeface="Arial"/>
                <a:cs typeface="Arial"/>
              </a:defRPr>
            </a:pPr>
            <a:r>
              <a:rPr sz="1800" b="0">
                <a:solidFill>
                  <a:srgbClr val="202B38"/>
                </a:solidFill>
                <a:latin typeface="Arial"/>
                <a:ea typeface="Arial"/>
                <a:cs typeface="Arial"/>
              </a:rPr>
              <a:t>Thời gian xử lý và chờ.</a:t>
            </a:r>
          </a:p>
          <a:p xmlns:a="http://schemas.openxmlformats.org/drawingml/2006/main">
            <a:pPr>
              <a:defRPr sz="1800" b="0">
                <a:solidFill>
                  <a:srgbClr val="202B38"/>
                </a:solidFill>
                <a:latin typeface="Arial"/>
                <a:ea typeface="Arial"/>
                <a:cs typeface="Arial"/>
              </a:defRPr>
            </a:pPr>
            <a:r>
              <a:rPr sz="1800" b="0">
                <a:solidFill>
                  <a:srgbClr val="202B38"/>
                </a:solidFill>
                <a:latin typeface="Arial"/>
                <a:ea typeface="Arial"/>
                <a:cs typeface="Arial"/>
              </a:rPr>
              <a:t>Số lần hỏi thêm.</a:t>
            </a:r>
          </a:p>
          <a:p xmlns:a="http://schemas.openxmlformats.org/drawingml/2006/main">
            <a:pPr>
              <a:defRPr sz="1800" b="0">
                <a:solidFill>
                  <a:srgbClr val="202B38"/>
                </a:solidFill>
                <a:latin typeface="Arial"/>
                <a:ea typeface="Arial"/>
                <a:cs typeface="Arial"/>
              </a:defRPr>
            </a:pPr>
            <a:r>
              <a:rPr sz="1800" b="0">
                <a:solidFill>
                  <a:srgbClr val="202B38"/>
                </a:solidFill>
                <a:latin typeface="Arial"/>
                <a:ea typeface="Arial"/>
                <a:cs typeface="Arial"/>
              </a:rPr>
              <a:t>Công việc của reviewer.</a:t>
            </a:r>
          </a:p>
          <a:p xmlns:a="http://schemas.openxmlformats.org/drawingml/2006/main">
            <a:pPr>
              <a:defRPr sz="1800" b="0">
                <a:solidFill>
                  <a:srgbClr val="202B38"/>
                </a:solidFill>
                <a:latin typeface="Arial"/>
                <a:ea typeface="Arial"/>
                <a:cs typeface="Arial"/>
              </a:defRPr>
            </a:pPr>
            <a:r>
              <a:rPr sz="1800" b="0">
                <a:solidFill>
                  <a:srgbClr val="202B38"/>
                </a:solidFill>
                <a:latin typeface="Arial"/>
                <a:ea typeface="Arial"/>
                <a:cs typeface="Arial"/>
              </a:rPr>
              <a:t>Bỏ sót và chuyển tiếp thừa.</a:t>
            </a:r>
          </a:p>
        </p:txBody>
      </p:sp>
      <p:sp>
        <p:nvSpPr>
          <p:cNvPr id="14" name="">
            <a:extLst xmlns:a="http://schemas.openxmlformats.org/drawingml/2006/main">
              <a:ext uri="{FF2B5EF4-FFF2-40B4-BE49-F238E27FC236}">
                <a16:creationId xmlns:a16="http://schemas.microsoft.com/office/drawing/2014/main" id="{38318D21-D10D-46CD-84E4-DDDDD989B715}"/>
              </a:ext>
            </a:extLst>
          </p:cNvPr>
          <p:cNvSpPr>
            <a:spLocks xmlns:a="http://schemas.openxmlformats.org/drawingml/2006/main" noGrp="1"/>
          </p:cNvSpPr>
          <p:nvPr/>
        </p:nvSpPr>
        <p:spPr>
          <a:xfrm xmlns:a="http://schemas.openxmlformats.org/drawingml/2006/main">
            <a:off x="8420100" y="395287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F4E12"/>
                </a:solidFill>
                <a:latin typeface="Arial"/>
                <a:ea typeface="Arial"/>
                <a:cs typeface="Arial"/>
              </a:defRPr>
            </a:pPr>
            <a:r>
              <a:rPr sz="2100" b="1">
                <a:solidFill>
                  <a:srgbClr val="CF4E12"/>
                </a:solidFill>
                <a:latin typeface="Arial"/>
                <a:ea typeface="Arial"/>
                <a:cs typeface="Arial"/>
              </a:rPr>
              <a:t>Feedback và bất lợi</a:t>
            </a:r>
          </a:p>
        </p:txBody>
      </p:sp>
      <p:sp>
        <p:nvSpPr>
          <p:cNvPr id="15" name="">
            <a:extLst xmlns:a="http://schemas.openxmlformats.org/drawingml/2006/main">
              <a:ext uri="{FF2B5EF4-FFF2-40B4-BE49-F238E27FC236}">
                <a16:creationId xmlns:a16="http://schemas.microsoft.com/office/drawing/2014/main" id="{2D25B74C-3A78-4578-A8A8-1A164E397158}"/>
              </a:ext>
            </a:extLst>
          </p:cNvPr>
          <p:cNvSpPr>
            <a:spLocks xmlns:a="http://schemas.openxmlformats.org/drawingml/2006/main" noGrp="1"/>
          </p:cNvSpPr>
          <p:nvPr/>
        </p:nvSpPr>
        <p:spPr>
          <a:xfrm xmlns:a="http://schemas.openxmlformats.org/drawingml/2006/main">
            <a:off x="8420100" y="4429125"/>
            <a:ext cx="323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B38"/>
                </a:solidFill>
                <a:latin typeface="Arial"/>
                <a:ea typeface="Arial"/>
                <a:cs typeface="Arial"/>
              </a:defRPr>
            </a:pPr>
            <a:r>
              <a:rPr sz="1800" b="0">
                <a:solidFill>
                  <a:srgbClr val="202B38"/>
                </a:solidFill>
                <a:latin typeface="Arial"/>
                <a:ea typeface="Arial"/>
                <a:cs typeface="Arial"/>
              </a:rPr>
              <a:t>Lưu quote được phép dùng.</a:t>
            </a:r>
          </a:p>
          <a:p xmlns:a="http://schemas.openxmlformats.org/drawingml/2006/main">
            <a:pPr>
              <a:defRPr sz="1800" b="0">
                <a:solidFill>
                  <a:srgbClr val="202B38"/>
                </a:solidFill>
                <a:latin typeface="Arial"/>
                <a:ea typeface="Arial"/>
                <a:cs typeface="Arial"/>
              </a:defRPr>
            </a:pPr>
            <a:r>
              <a:rPr sz="1800" b="0">
                <a:solidFill>
                  <a:srgbClr val="202B38"/>
                </a:solidFill>
                <a:latin typeface="Arial"/>
                <a:ea typeface="Arial"/>
                <a:cs typeface="Arial"/>
              </a:rPr>
              <a:t>Ghi bất lợi quan sát được.</a:t>
            </a:r>
          </a:p>
          <a:p xmlns:a="http://schemas.openxmlformats.org/drawingml/2006/main">
            <a:pPr>
              <a:defRPr sz="1800" b="0">
                <a:solidFill>
                  <a:srgbClr val="202B38"/>
                </a:solidFill>
                <a:latin typeface="Arial"/>
                <a:ea typeface="Arial"/>
                <a:cs typeface="Arial"/>
              </a:defRPr>
            </a:pPr>
            <a:r>
              <a:rPr sz="1800" b="0">
                <a:solidFill>
                  <a:srgbClr val="202B38"/>
                </a:solidFill>
                <a:latin typeface="Arial"/>
                <a:ea typeface="Arial"/>
                <a:cs typeface="Arial"/>
              </a:rPr>
              <a:t>Sửa từ feedback, gắn commit</a:t>
            </a:r>
          </a:p>
          <a:p xmlns:a="http://schemas.openxmlformats.org/drawingml/2006/main">
            <a:pPr>
              <a:defRPr sz="1800" b="0">
                <a:solidFill>
                  <a:srgbClr val="202B38"/>
                </a:solidFill>
                <a:latin typeface="Arial"/>
                <a:ea typeface="Arial"/>
                <a:cs typeface="Arial"/>
              </a:defRPr>
            </a:pPr>
            <a:r>
              <a:rPr sz="1800" b="0">
                <a:solidFill>
                  <a:srgbClr val="202B38"/>
                </a:solidFill>
                <a:latin typeface="Arial"/>
                <a:ea typeface="Arial"/>
                <a:cs typeface="Arial"/>
              </a:rPr>
              <a:t>và kiểm tra lại.</a:t>
            </a:r>
          </a:p>
        </p:txBody>
      </p:sp>
      <p:sp>
        <p:nvSpPr>
          <p:cNvPr id="16" name="">
            <a:extLst xmlns:a="http://schemas.openxmlformats.org/drawingml/2006/main">
              <a:ext uri="{FF2B5EF4-FFF2-40B4-BE49-F238E27FC236}">
                <a16:creationId xmlns:a16="http://schemas.microsoft.com/office/drawing/2014/main" id="{A4B5BEB4-5ADD-4F70-A54E-4088A0640201}"/>
              </a:ext>
            </a:extLst>
          </p:cNvPr>
          <p:cNvSpPr>
            <a:spLocks xmlns:a="http://schemas.openxmlformats.org/drawingml/2006/main" noGrp="1"/>
          </p:cNvSpPr>
          <p:nvPr/>
        </p:nvSpPr>
        <p:spPr>
          <a:xfrm xmlns:a="http://schemas.openxmlformats.org/drawingml/2006/main">
            <a:off x="533400" y="60102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06D"/>
                </a:solidFill>
                <a:latin typeface="Arial"/>
                <a:ea typeface="Arial"/>
                <a:cs typeface="Arial"/>
              </a:defRPr>
            </a:pPr>
            <a:r>
              <a:rPr sz="1425" b="0">
                <a:solidFill>
                  <a:srgbClr val="52606D"/>
                </a:solidFill>
                <a:latin typeface="Arial"/>
                <a:ea typeface="Arial"/>
                <a:cs typeface="Arial"/>
              </a:rPr>
              <a:t>Nhãn đúng/sai chốt trước khi chạy. Bộ test mẫu không chứng minh hiệu quả thực địa.</a:t>
            </a:r>
          </a:p>
        </p:txBody>
      </p:sp>
    </p:spTree>
    <p:extLst>
      <p:ext uri="{BB962C8B-B14F-4D97-AF65-F5344CB8AC3E}">
        <p14:creationId xmlns:p14="http://schemas.microsoft.com/office/powerpoint/2010/main" val="17165624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9FD1FF7-4D65-417E-ABA2-B2D91211949E}"/>
              </a:ext>
            </a:extLst>
          </p:cNvPr>
          <p:cNvSpPr>
            <a:spLocks xmlns:a="http://schemas.openxmlformats.org/drawingml/2006/main" noGrp="1"/>
          </p:cNvSpPr>
          <p:nvPr/>
        </p:nvSpPr>
        <p:spPr>
          <a:xfrm xmlns:a="http://schemas.openxmlformats.org/drawingml/2006/main">
            <a:off x="533400" y="247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CF4E12"/>
                </a:solidFill>
                <a:latin typeface="Arial"/>
                <a:ea typeface="Arial"/>
                <a:cs typeface="Arial"/>
              </a:defRPr>
            </a:pPr>
            <a:r>
              <a:rPr sz="1200" b="1">
                <a:solidFill>
                  <a:srgbClr val="CF4E12"/>
                </a:solidFill>
                <a:latin typeface="Arial"/>
                <a:ea typeface="Arial"/>
                <a:cs typeface="Arial"/>
              </a:rPr>
              <a:t>VNG SUPPORT   /   MLAI 2026   /   ĐỀ A</a:t>
            </a:r>
          </a:p>
        </p:txBody>
      </p:sp>
      <p:sp>
        <p:nvSpPr>
          <p:cNvPr id="2" name="">
            <a:extLst xmlns:a="http://schemas.openxmlformats.org/drawingml/2006/main">
              <a:ext uri="{FF2B5EF4-FFF2-40B4-BE49-F238E27FC236}">
                <a16:creationId xmlns:a16="http://schemas.microsoft.com/office/drawing/2014/main" id="{A07A6589-0643-4014-9881-52235BAF6CFD}"/>
              </a:ext>
            </a:extLst>
          </p:cNvPr>
          <p:cNvSpPr>
            <a:spLocks xmlns:a="http://schemas.openxmlformats.org/drawingml/2006/main" noGrp="1"/>
          </p:cNvSpPr>
          <p:nvPr/>
        </p:nvSpPr>
        <p:spPr>
          <a:xfrm xmlns:a="http://schemas.openxmlformats.org/drawingml/2006/main">
            <a:off x="533400" y="6858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02B38"/>
                </a:solidFill>
                <a:latin typeface="Arial"/>
                <a:ea typeface="Arial"/>
                <a:cs typeface="Arial"/>
              </a:defRPr>
            </a:pPr>
            <a:r>
              <a:rPr sz="3225" b="1">
                <a:solidFill>
                  <a:srgbClr val="202B38"/>
                </a:solidFill>
                <a:latin typeface="Arial"/>
                <a:ea typeface="Arial"/>
                <a:cs typeface="Arial"/>
              </a:rPr>
              <a:t>Kiến trúc và phạm vi mô phỏng</a:t>
            </a:r>
          </a:p>
        </p:txBody>
      </p:sp>
      <p:sp>
        <p:nvSpPr>
          <p:cNvPr id="3" name="">
            <a:extLst xmlns:a="http://schemas.openxmlformats.org/drawingml/2006/main">
              <a:ext uri="{FF2B5EF4-FFF2-40B4-BE49-F238E27FC236}">
                <a16:creationId xmlns:a16="http://schemas.microsoft.com/office/drawing/2014/main" id="{F501F276-FC7A-4268-95F9-B27A458A7ADA}"/>
              </a:ext>
            </a:extLst>
          </p:cNvPr>
          <p:cNvSpPr>
            <a:spLocks xmlns:a="http://schemas.openxmlformats.org/drawingml/2006/main" noGrp="1"/>
          </p:cNvSpPr>
          <p:nvPr/>
        </p:nvSpPr>
        <p:spPr>
          <a:xfrm xmlns:a="http://schemas.openxmlformats.org/drawingml/2006/main">
            <a:off x="533400" y="1352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06D"/>
                </a:solidFill>
                <a:latin typeface="Arial"/>
                <a:ea typeface="Arial"/>
                <a:cs typeface="Arial"/>
              </a:defRPr>
            </a:pPr>
            <a:r>
              <a:rPr sz="1725" b="0">
                <a:solidFill>
                  <a:srgbClr val="52606D"/>
                </a:solidFill>
                <a:latin typeface="Arial"/>
                <a:ea typeface="Arial"/>
                <a:cs typeface="Arial"/>
              </a:rPr>
              <a:t>Ứng dụng Next.js dùng chung API cho yêu cầu người dùng và Verify.</a:t>
            </a:r>
          </a:p>
        </p:txBody>
      </p:sp>
      <p:sp>
        <p:nvSpPr>
          <p:cNvPr id="4" name="">
            <a:extLst xmlns:a="http://schemas.openxmlformats.org/drawingml/2006/main">
              <a:ext uri="{FF2B5EF4-FFF2-40B4-BE49-F238E27FC236}">
                <a16:creationId xmlns:a16="http://schemas.microsoft.com/office/drawing/2014/main" id="{13303419-760D-45D6-B4B0-0A243976CF26}"/>
              </a:ext>
            </a:extLst>
          </p:cNvPr>
          <p:cNvSpPr>
            <a:spLocks xmlns:a="http://schemas.openxmlformats.org/drawingml/2006/main" noGrp="1"/>
          </p:cNvSpPr>
          <p:nvPr/>
        </p:nvSpPr>
        <p:spPr>
          <a:xfrm xmlns:a="http://schemas.openxmlformats.org/drawingml/2006/main">
            <a:off x="11049000" y="64484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4 / 5</a:t>
            </a:r>
          </a:p>
        </p:txBody>
      </p:sp>
      <p:sp>
        <p:nvSpPr>
          <p:cNvPr id="5" name="">
            <a:extLst xmlns:a="http://schemas.openxmlformats.org/drawingml/2006/main">
              <a:ext uri="{FF2B5EF4-FFF2-40B4-BE49-F238E27FC236}">
                <a16:creationId xmlns:a16="http://schemas.microsoft.com/office/drawing/2014/main" id="{49766C42-F2AC-415F-AED3-2F4A0BAE0E36}"/>
              </a:ext>
            </a:extLst>
          </p:cNvPr>
          <p:cNvSpPr>
            <a:spLocks xmlns:a="http://schemas.openxmlformats.org/drawingml/2006/main" noGrp="1"/>
          </p:cNvSpPr>
          <p:nvPr/>
        </p:nvSpPr>
        <p:spPr>
          <a:xfrm xmlns:a="http://schemas.openxmlformats.org/drawingml/2006/main">
            <a:off x="533400" y="2124075"/>
            <a:ext cx="2171700" cy="838200"/>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6" name="">
            <a:extLst xmlns:a="http://schemas.openxmlformats.org/drawingml/2006/main">
              <a:ext uri="{FF2B5EF4-FFF2-40B4-BE49-F238E27FC236}">
                <a16:creationId xmlns:a16="http://schemas.microsoft.com/office/drawing/2014/main" id="{B8892162-8417-449F-80CF-D0FF33001A40}"/>
              </a:ext>
            </a:extLst>
          </p:cNvPr>
          <p:cNvSpPr>
            <a:spLocks xmlns:a="http://schemas.openxmlformats.org/drawingml/2006/main" noGrp="1"/>
          </p:cNvSpPr>
          <p:nvPr/>
        </p:nvSpPr>
        <p:spPr>
          <a:xfrm xmlns:a="http://schemas.openxmlformats.org/drawingml/2006/main">
            <a:off x="685800" y="2257425"/>
            <a:ext cx="1866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Giao diện</a:t>
            </a:r>
          </a:p>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Hỗ trợ / Verify</a:t>
            </a:r>
          </a:p>
        </p:txBody>
      </p:sp>
      <p:sp>
        <p:nvSpPr>
          <p:cNvPr id="7" name="">
            <a:extLst xmlns:a="http://schemas.openxmlformats.org/drawingml/2006/main">
              <a:ext uri="{FF2B5EF4-FFF2-40B4-BE49-F238E27FC236}">
                <a16:creationId xmlns:a16="http://schemas.microsoft.com/office/drawing/2014/main" id="{4CCB1B45-94D5-4A78-8507-B850E429A832}"/>
              </a:ext>
            </a:extLst>
          </p:cNvPr>
          <p:cNvSpPr>
            <a:spLocks xmlns:a="http://schemas.openxmlformats.org/drawingml/2006/main" noGrp="1"/>
          </p:cNvSpPr>
          <p:nvPr/>
        </p:nvSpPr>
        <p:spPr>
          <a:xfrm xmlns:a="http://schemas.openxmlformats.org/drawingml/2006/main">
            <a:off x="3495675" y="2124075"/>
            <a:ext cx="2171700" cy="838200"/>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8" name="">
            <a:extLst xmlns:a="http://schemas.openxmlformats.org/drawingml/2006/main">
              <a:ext uri="{FF2B5EF4-FFF2-40B4-BE49-F238E27FC236}">
                <a16:creationId xmlns:a16="http://schemas.microsoft.com/office/drawing/2014/main" id="{D22B763E-B031-4720-84E5-AEFD77B6D34E}"/>
              </a:ext>
            </a:extLst>
          </p:cNvPr>
          <p:cNvSpPr>
            <a:spLocks xmlns:a="http://schemas.openxmlformats.org/drawingml/2006/main" noGrp="1"/>
          </p:cNvSpPr>
          <p:nvPr/>
        </p:nvSpPr>
        <p:spPr>
          <a:xfrm xmlns:a="http://schemas.openxmlformats.org/drawingml/2006/main">
            <a:off x="3648075" y="2257425"/>
            <a:ext cx="1866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API hỗ trợ</a:t>
            </a:r>
          </a:p>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Kiểm tra input</a:t>
            </a:r>
          </a:p>
        </p:txBody>
      </p:sp>
      <p:sp>
        <p:nvSpPr>
          <p:cNvPr id="9" name="">
            <a:extLst xmlns:a="http://schemas.openxmlformats.org/drawingml/2006/main">
              <a:ext uri="{FF2B5EF4-FFF2-40B4-BE49-F238E27FC236}">
                <a16:creationId xmlns:a16="http://schemas.microsoft.com/office/drawing/2014/main" id="{E3D2885A-8F6D-442E-A2C8-3ABBDEF0ECCC}"/>
              </a:ext>
            </a:extLst>
          </p:cNvPr>
          <p:cNvSpPr>
            <a:spLocks xmlns:a="http://schemas.openxmlformats.org/drawingml/2006/main" noGrp="1"/>
          </p:cNvSpPr>
          <p:nvPr/>
        </p:nvSpPr>
        <p:spPr>
          <a:xfrm xmlns:a="http://schemas.openxmlformats.org/drawingml/2006/main">
            <a:off x="6457950" y="2124075"/>
            <a:ext cx="2171700" cy="838200"/>
          </a:xfrm>
          <a:prstGeom xmlns:a="http://schemas.openxmlformats.org/drawingml/2006/main" prst="rect">
            <a:avLst/>
          </a:prstGeom>
          <a:solidFill xmlns:a="http://schemas.openxmlformats.org/drawingml/2006/main">
            <a:srgbClr val="FFF1E6"/>
          </a:solidFill>
          <a:ln xmlns:a="http://schemas.openxmlformats.org/drawingml/2006/main" w="14288">
            <a:solidFill>
              <a:srgbClr val="CF4E12"/>
            </a:solidFill>
          </a:ln>
        </p:spPr>
      </p:sp>
      <p:sp>
        <p:nvSpPr>
          <p:cNvPr id="10" name="">
            <a:extLst xmlns:a="http://schemas.openxmlformats.org/drawingml/2006/main">
              <a:ext uri="{FF2B5EF4-FFF2-40B4-BE49-F238E27FC236}">
                <a16:creationId xmlns:a16="http://schemas.microsoft.com/office/drawing/2014/main" id="{7EE936A2-8D7A-4BE9-AA05-AAB47F00483A}"/>
              </a:ext>
            </a:extLst>
          </p:cNvPr>
          <p:cNvSpPr>
            <a:spLocks xmlns:a="http://schemas.openxmlformats.org/drawingml/2006/main" noGrp="1"/>
          </p:cNvSpPr>
          <p:nvPr/>
        </p:nvSpPr>
        <p:spPr>
          <a:xfrm xmlns:a="http://schemas.openxmlformats.org/drawingml/2006/main">
            <a:off x="6610350" y="2257425"/>
            <a:ext cx="1866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F4E12"/>
                </a:solidFill>
                <a:latin typeface="Arial"/>
                <a:ea typeface="Arial"/>
                <a:cs typeface="Arial"/>
              </a:defRPr>
            </a:pPr>
            <a:r>
              <a:rPr sz="1875" b="1">
                <a:solidFill>
                  <a:srgbClr val="CF4E12"/>
                </a:solidFill>
                <a:latin typeface="Arial"/>
                <a:ea typeface="Arial"/>
                <a:cs typeface="Arial"/>
              </a:rPr>
              <a:t>Policy</a:t>
            </a:r>
          </a:p>
          <a:p xmlns:a="http://schemas.openxmlformats.org/drawingml/2006/main">
            <a:pPr>
              <a:defRPr sz="1875" b="1">
                <a:solidFill>
                  <a:srgbClr val="CF4E12"/>
                </a:solidFill>
                <a:latin typeface="Arial"/>
                <a:ea typeface="Arial"/>
                <a:cs typeface="Arial"/>
              </a:defRPr>
            </a:pPr>
            <a:r>
              <a:rPr sz="1875" b="1">
                <a:solidFill>
                  <a:srgbClr val="CF4E12"/>
                </a:solidFill>
                <a:latin typeface="Arial"/>
                <a:ea typeface="Arial"/>
                <a:cs typeface="Arial"/>
              </a:rPr>
              <a:t>Quyết định</a:t>
            </a:r>
          </a:p>
        </p:txBody>
      </p:sp>
      <p:sp>
        <p:nvSpPr>
          <p:cNvPr id="11" name="">
            <a:extLst xmlns:a="http://schemas.openxmlformats.org/drawingml/2006/main">
              <a:ext uri="{FF2B5EF4-FFF2-40B4-BE49-F238E27FC236}">
                <a16:creationId xmlns:a16="http://schemas.microsoft.com/office/drawing/2014/main" id="{B146A5AB-6745-4AA2-B1C2-CD637638B675}"/>
              </a:ext>
            </a:extLst>
          </p:cNvPr>
          <p:cNvSpPr>
            <a:spLocks xmlns:a="http://schemas.openxmlformats.org/drawingml/2006/main" noGrp="1"/>
          </p:cNvSpPr>
          <p:nvPr/>
        </p:nvSpPr>
        <p:spPr>
          <a:xfrm xmlns:a="http://schemas.openxmlformats.org/drawingml/2006/main">
            <a:off x="9420225" y="2124075"/>
            <a:ext cx="2238375" cy="838200"/>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12" name="">
            <a:extLst xmlns:a="http://schemas.openxmlformats.org/drawingml/2006/main">
              <a:ext uri="{FF2B5EF4-FFF2-40B4-BE49-F238E27FC236}">
                <a16:creationId xmlns:a16="http://schemas.microsoft.com/office/drawing/2014/main" id="{0489818D-4519-4C7D-8734-3FE884637697}"/>
              </a:ext>
            </a:extLst>
          </p:cNvPr>
          <p:cNvSpPr>
            <a:spLocks xmlns:a="http://schemas.openxmlformats.org/drawingml/2006/main" noGrp="1"/>
          </p:cNvSpPr>
          <p:nvPr/>
        </p:nvSpPr>
        <p:spPr>
          <a:xfrm xmlns:a="http://schemas.openxmlformats.org/drawingml/2006/main">
            <a:off x="9572625" y="2257425"/>
            <a:ext cx="19335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Kết quả</a:t>
            </a:r>
          </a:p>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Bước tiếp theo</a:t>
            </a:r>
          </a:p>
        </p:txBody>
      </p:sp>
      <p:cxnSp>
        <p:nvCxnSpPr>
          <p:cNvPr id="38" name=""/>
          <p:cNvCxnSpPr>
            <a:stCxn xmlns:a="http://schemas.openxmlformats.org/drawingml/2006/main" id="5" idx="3"/>
            <a:endCxn xmlns:a="http://schemas.openxmlformats.org/drawingml/2006/main" id="7" idx="1"/>
          </p:cNvCxnSpPr>
          <p:nvPr/>
        </p:nvCxnSpPr>
        <p:spPr>
          <a:xfrm xmlns:a="http://schemas.openxmlformats.org/drawingml/2006/main">
            <a:off x="2705100" y="2543175"/>
            <a:ext cx="790575" cy="0"/>
          </a:xfrm>
          <a:prstGeom xmlns:a="http://schemas.openxmlformats.org/drawingml/2006/main" prst="straightConnector1">
            <a:avLst/>
          </a:prstGeom>
          <a:ln xmlns:a="http://schemas.openxmlformats.org/drawingml/2006/main" w="19050">
            <a:solidFill>
              <a:srgbClr val="52606D"/>
            </a:solidFill>
            <a:tailEnd type="triangle" w="sm" len="sm"/>
          </a:ln>
        </p:spPr>
      </p:cxnSp>
      <p:cxnSp>
        <p:nvCxnSpPr>
          <p:cNvPr id="39" name=""/>
          <p:cNvCxnSpPr>
            <a:stCxn xmlns:a="http://schemas.openxmlformats.org/drawingml/2006/main" id="7" idx="3"/>
            <a:endCxn xmlns:a="http://schemas.openxmlformats.org/drawingml/2006/main" id="9" idx="1"/>
          </p:cNvCxnSpPr>
          <p:nvPr/>
        </p:nvCxnSpPr>
        <p:spPr>
          <a:xfrm xmlns:a="http://schemas.openxmlformats.org/drawingml/2006/main">
            <a:off x="5667375" y="2543175"/>
            <a:ext cx="790575" cy="0"/>
          </a:xfrm>
          <a:prstGeom xmlns:a="http://schemas.openxmlformats.org/drawingml/2006/main" prst="straightConnector1">
            <a:avLst/>
          </a:prstGeom>
          <a:ln xmlns:a="http://schemas.openxmlformats.org/drawingml/2006/main" w="19050">
            <a:solidFill>
              <a:srgbClr val="52606D"/>
            </a:solidFill>
            <a:tailEnd type="triangle" w="sm" len="sm"/>
          </a:ln>
        </p:spPr>
      </p:cxnSp>
      <p:cxnSp>
        <p:nvCxnSpPr>
          <p:cNvPr id="40" name=""/>
          <p:cNvCxnSpPr>
            <a:stCxn xmlns:a="http://schemas.openxmlformats.org/drawingml/2006/main" id="9" idx="3"/>
            <a:endCxn xmlns:a="http://schemas.openxmlformats.org/drawingml/2006/main" id="11" idx="1"/>
          </p:cNvCxnSpPr>
          <p:nvPr/>
        </p:nvCxnSpPr>
        <p:spPr>
          <a:xfrm xmlns:a="http://schemas.openxmlformats.org/drawingml/2006/main">
            <a:off x="8629650" y="2543175"/>
            <a:ext cx="790575" cy="0"/>
          </a:xfrm>
          <a:prstGeom xmlns:a="http://schemas.openxmlformats.org/drawingml/2006/main" prst="straightConnector1">
            <a:avLst/>
          </a:prstGeom>
          <a:ln xmlns:a="http://schemas.openxmlformats.org/drawingml/2006/main" w="19050">
            <a:solidFill>
              <a:srgbClr val="52606D"/>
            </a:solidFill>
            <a:tailEnd type="triangle" w="sm" len="sm"/>
          </a:ln>
        </p:spPr>
      </p:cxnSp>
      <p:sp>
        <p:nvSpPr>
          <p:cNvPr id="16" name="">
            <a:extLst xmlns:a="http://schemas.openxmlformats.org/drawingml/2006/main">
              <a:ext uri="{FF2B5EF4-FFF2-40B4-BE49-F238E27FC236}">
                <a16:creationId xmlns:a16="http://schemas.microsoft.com/office/drawing/2014/main" id="{77A3FA33-F177-4105-87E4-C9A08164CD90}"/>
              </a:ext>
            </a:extLst>
          </p:cNvPr>
          <p:cNvSpPr>
            <a:spLocks xmlns:a="http://schemas.openxmlformats.org/drawingml/2006/main" noGrp="1"/>
          </p:cNvSpPr>
          <p:nvPr/>
        </p:nvSpPr>
        <p:spPr>
          <a:xfrm xmlns:a="http://schemas.openxmlformats.org/drawingml/2006/main">
            <a:off x="1238250" y="3876675"/>
            <a:ext cx="4000500" cy="838200"/>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17" name="">
            <a:extLst xmlns:a="http://schemas.openxmlformats.org/drawingml/2006/main">
              <a:ext uri="{FF2B5EF4-FFF2-40B4-BE49-F238E27FC236}">
                <a16:creationId xmlns:a16="http://schemas.microsoft.com/office/drawing/2014/main" id="{174FD222-CF11-416F-BD81-66499404C0FF}"/>
              </a:ext>
            </a:extLst>
          </p:cNvPr>
          <p:cNvSpPr>
            <a:spLocks xmlns:a="http://schemas.openxmlformats.org/drawingml/2006/main" noGrp="1"/>
          </p:cNvSpPr>
          <p:nvPr/>
        </p:nvSpPr>
        <p:spPr>
          <a:xfrm xmlns:a="http://schemas.openxmlformats.org/drawingml/2006/main">
            <a:off x="1390650" y="4010025"/>
            <a:ext cx="3695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02B38"/>
                </a:solidFill>
                <a:latin typeface="Arial"/>
                <a:ea typeface="Arial"/>
                <a:cs typeface="Arial"/>
              </a:defRPr>
            </a:pPr>
            <a:r>
              <a:rPr sz="1800" b="1">
                <a:solidFill>
                  <a:srgbClr val="202B38"/>
                </a:solidFill>
                <a:latin typeface="Arial"/>
                <a:ea typeface="Arial"/>
                <a:cs typeface="Arial"/>
              </a:rPr>
              <a:t>MongoDB: request, Verify, audit</a:t>
            </a:r>
          </a:p>
        </p:txBody>
      </p:sp>
      <p:sp>
        <p:nvSpPr>
          <p:cNvPr id="18" name="">
            <a:extLst xmlns:a="http://schemas.openxmlformats.org/drawingml/2006/main">
              <a:ext uri="{FF2B5EF4-FFF2-40B4-BE49-F238E27FC236}">
                <a16:creationId xmlns:a16="http://schemas.microsoft.com/office/drawing/2014/main" id="{74C07069-09DF-49B4-8D0E-8F253344788E}"/>
              </a:ext>
            </a:extLst>
          </p:cNvPr>
          <p:cNvSpPr>
            <a:spLocks xmlns:a="http://schemas.openxmlformats.org/drawingml/2006/main" noGrp="1"/>
          </p:cNvSpPr>
          <p:nvPr/>
        </p:nvSpPr>
        <p:spPr>
          <a:xfrm xmlns:a="http://schemas.openxmlformats.org/drawingml/2006/main">
            <a:off x="6953250" y="3876675"/>
            <a:ext cx="4000500" cy="838200"/>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19" name="">
            <a:extLst xmlns:a="http://schemas.openxmlformats.org/drawingml/2006/main">
              <a:ext uri="{FF2B5EF4-FFF2-40B4-BE49-F238E27FC236}">
                <a16:creationId xmlns:a16="http://schemas.microsoft.com/office/drawing/2014/main" id="{B01F6770-46FB-4977-89B2-CCAE079D0473}"/>
              </a:ext>
            </a:extLst>
          </p:cNvPr>
          <p:cNvSpPr>
            <a:spLocks xmlns:a="http://schemas.openxmlformats.org/drawingml/2006/main" noGrp="1"/>
          </p:cNvSpPr>
          <p:nvPr/>
        </p:nvSpPr>
        <p:spPr>
          <a:xfrm xmlns:a="http://schemas.openxmlformats.org/drawingml/2006/main">
            <a:off x="7105650" y="4010025"/>
            <a:ext cx="3695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Knowledge / model</a:t>
            </a:r>
          </a:p>
          <a:p xmlns:a="http://schemas.openxmlformats.org/drawingml/2006/main">
            <a:pPr>
              <a:defRPr sz="1875" b="1">
                <a:solidFill>
                  <a:srgbClr val="202B38"/>
                </a:solidFill>
                <a:latin typeface="Arial"/>
                <a:ea typeface="Arial"/>
                <a:cs typeface="Arial"/>
              </a:defRPr>
            </a:pPr>
            <a:r>
              <a:rPr sz="1875" b="1">
                <a:solidFill>
                  <a:srgbClr val="202B38"/>
                </a:solidFill>
                <a:latin typeface="Arial"/>
                <a:ea typeface="Arial"/>
                <a:cs typeface="Arial"/>
              </a:rPr>
              <a:t>Hỗ trợ có kiểm tra</a:t>
            </a:r>
          </a:p>
        </p:txBody>
      </p:sp>
      <p:cxnSp>
        <p:nvCxnSpPr>
          <p:cNvPr id="45" name=""/>
          <p:cNvCxnSpPr>
            <a:stCxn xmlns:a="http://schemas.openxmlformats.org/drawingml/2006/main" id="7" idx="2"/>
            <a:endCxn xmlns:a="http://schemas.openxmlformats.org/drawingml/2006/main" id="16" idx="0"/>
          </p:cNvCxnSpPr>
          <p:nvPr/>
        </p:nvCxnSpPr>
        <p:spPr>
          <a:xfrm xmlns:a="http://schemas.openxmlformats.org/drawingml/2006/main" flipH="1">
            <a:off x="3238500" y="2962275"/>
            <a:ext cx="1343025" cy="914400"/>
          </a:xfrm>
          <a:prstGeom xmlns:a="http://schemas.openxmlformats.org/drawingml/2006/main" prst="bentConnector4">
            <a:avLst>
              <a:gd name="adj1" fmla="val 0"/>
              <a:gd name="adj2" fmla="val 50000"/>
            </a:avLst>
          </a:prstGeom>
          <a:ln xmlns:a="http://schemas.openxmlformats.org/drawingml/2006/main" w="19050">
            <a:solidFill>
              <a:srgbClr val="52606D"/>
            </a:solidFill>
            <a:tailEnd type="triangle" w="sm" len="sm"/>
          </a:ln>
        </p:spPr>
      </p:cxnSp>
      <p:cxnSp>
        <p:nvCxnSpPr>
          <p:cNvPr id="46" name=""/>
          <p:cNvCxnSpPr>
            <a:stCxn xmlns:a="http://schemas.openxmlformats.org/drawingml/2006/main" id="9" idx="2"/>
            <a:endCxn xmlns:a="http://schemas.openxmlformats.org/drawingml/2006/main" id="18" idx="0"/>
          </p:cNvCxnSpPr>
          <p:nvPr/>
        </p:nvCxnSpPr>
        <p:spPr>
          <a:xfrm xmlns:a="http://schemas.openxmlformats.org/drawingml/2006/main">
            <a:off x="7543800" y="2962275"/>
            <a:ext cx="1409700" cy="914400"/>
          </a:xfrm>
          <a:prstGeom xmlns:a="http://schemas.openxmlformats.org/drawingml/2006/main" prst="bentConnector4">
            <a:avLst>
              <a:gd name="adj1" fmla="val 0"/>
              <a:gd name="adj2" fmla="val 50000"/>
            </a:avLst>
          </a:prstGeom>
          <a:ln xmlns:a="http://schemas.openxmlformats.org/drawingml/2006/main" w="19050">
            <a:solidFill>
              <a:srgbClr val="52606D"/>
            </a:solidFill>
            <a:tailEnd type="triangle" w="sm" len="sm"/>
          </a:ln>
        </p:spPr>
      </p:cxnSp>
      <p:sp>
        <p:nvSpPr>
          <p:cNvPr id="22" name="">
            <a:extLst xmlns:a="http://schemas.openxmlformats.org/drawingml/2006/main">
              <a:ext uri="{FF2B5EF4-FFF2-40B4-BE49-F238E27FC236}">
                <a16:creationId xmlns:a16="http://schemas.microsoft.com/office/drawing/2014/main" id="{A3080111-247F-4F4A-87B4-D421148D6CB9}"/>
              </a:ext>
            </a:extLst>
          </p:cNvPr>
          <p:cNvSpPr>
            <a:spLocks xmlns:a="http://schemas.openxmlformats.org/drawingml/2006/main" noGrp="1"/>
          </p:cNvSpPr>
          <p:nvPr/>
        </p:nvSpPr>
        <p:spPr>
          <a:xfrm xmlns:a="http://schemas.openxmlformats.org/drawingml/2006/main">
            <a:off x="1238250" y="48768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06D"/>
                </a:solidFill>
                <a:latin typeface="Arial"/>
                <a:ea typeface="Arial"/>
                <a:cs typeface="Arial"/>
              </a:defRPr>
            </a:pPr>
            <a:r>
              <a:rPr sz="1725" b="0">
                <a:solidFill>
                  <a:srgbClr val="52606D"/>
                </a:solidFill>
                <a:latin typeface="Arial"/>
                <a:ea typeface="Arial"/>
                <a:cs typeface="Arial"/>
              </a:rPr>
              <a:t>Lưu và đọc lại dữ liệu</a:t>
            </a:r>
          </a:p>
        </p:txBody>
      </p:sp>
      <p:sp>
        <p:nvSpPr>
          <p:cNvPr id="23" name="">
            <a:extLst xmlns:a="http://schemas.openxmlformats.org/drawingml/2006/main">
              <a:ext uri="{FF2B5EF4-FFF2-40B4-BE49-F238E27FC236}">
                <a16:creationId xmlns:a16="http://schemas.microsoft.com/office/drawing/2014/main" id="{5EC26055-4ADE-4BC2-ACF6-C491887165EB}"/>
              </a:ext>
            </a:extLst>
          </p:cNvPr>
          <p:cNvSpPr>
            <a:spLocks xmlns:a="http://schemas.openxmlformats.org/drawingml/2006/main" noGrp="1"/>
          </p:cNvSpPr>
          <p:nvPr/>
        </p:nvSpPr>
        <p:spPr>
          <a:xfrm xmlns:a="http://schemas.openxmlformats.org/drawingml/2006/main">
            <a:off x="6953250" y="4876800"/>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06D"/>
                </a:solidFill>
                <a:latin typeface="Arial"/>
                <a:ea typeface="Arial"/>
                <a:cs typeface="Arial"/>
              </a:defRPr>
            </a:pPr>
            <a:r>
              <a:rPr sz="1725" b="0">
                <a:solidFill>
                  <a:srgbClr val="52606D"/>
                </a:solidFill>
                <a:latin typeface="Arial"/>
                <a:ea typeface="Arial"/>
                <a:cs typeface="Arial"/>
              </a:rPr>
              <a:t>Được dùng khi luồng xử lý cần</a:t>
            </a:r>
          </a:p>
        </p:txBody>
      </p:sp>
      <p:sp>
        <p:nvSpPr>
          <p:cNvPr id="24" name="">
            <a:extLst xmlns:a="http://schemas.openxmlformats.org/drawingml/2006/main">
              <a:ext uri="{FF2B5EF4-FFF2-40B4-BE49-F238E27FC236}">
                <a16:creationId xmlns:a16="http://schemas.microsoft.com/office/drawing/2014/main" id="{34A9976A-8793-4AC8-AA84-6F2D98F25808}"/>
              </a:ext>
            </a:extLst>
          </p:cNvPr>
          <p:cNvSpPr>
            <a:spLocks xmlns:a="http://schemas.openxmlformats.org/drawingml/2006/main" noGrp="1"/>
          </p:cNvSpPr>
          <p:nvPr/>
        </p:nvSpPr>
        <p:spPr>
          <a:xfrm xmlns:a="http://schemas.openxmlformats.org/drawingml/2006/main">
            <a:off x="533400" y="56007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02B38"/>
                </a:solidFill>
                <a:latin typeface="Arial"/>
                <a:ea typeface="Arial"/>
                <a:cs typeface="Arial"/>
              </a:defRPr>
            </a:pPr>
            <a:r>
              <a:rPr sz="1650" b="0">
                <a:solidFill>
                  <a:srgbClr val="202B38"/>
                </a:solidFill>
                <a:latin typeface="Arial"/>
                <a:ea typeface="Arial"/>
                <a:cs typeface="Arial"/>
              </a:rPr>
              <a:t>Local: mock model + memory, mất dữ liệu khi restart.</a:t>
            </a:r>
          </a:p>
          <a:p xmlns:a="http://schemas.openxmlformats.org/drawingml/2006/main">
            <a:pPr>
              <a:defRPr sz="1650" b="0">
                <a:solidFill>
                  <a:srgbClr val="202B38"/>
                </a:solidFill>
                <a:latin typeface="Arial"/>
                <a:ea typeface="Arial"/>
                <a:cs typeface="Arial"/>
              </a:defRPr>
            </a:pPr>
            <a:r>
              <a:rPr sz="1650" b="0">
                <a:solidFill>
                  <a:srgbClr val="202B38"/>
                </a:solidFill>
                <a:latin typeface="Arial"/>
                <a:ea typeface="Arial"/>
                <a:cs typeface="Arial"/>
              </a:rPr>
              <a:t>Hosted: Vercel + MongoDB theo cấu hình; kiểm tra health để xác nhận revision.</a:t>
            </a:r>
          </a:p>
        </p:txBody>
      </p:sp>
      <p:sp>
        <p:nvSpPr>
          <p:cNvPr id="25" name="">
            <a:extLst xmlns:a="http://schemas.openxmlformats.org/drawingml/2006/main">
              <a:ext uri="{FF2B5EF4-FFF2-40B4-BE49-F238E27FC236}">
                <a16:creationId xmlns:a16="http://schemas.microsoft.com/office/drawing/2014/main" id="{460789C5-205B-417D-8EC8-89D6D4BA936E}"/>
              </a:ext>
            </a:extLst>
          </p:cNvPr>
          <p:cNvSpPr>
            <a:spLocks xmlns:a="http://schemas.openxmlformats.org/drawingml/2006/main" noGrp="1"/>
          </p:cNvSpPr>
          <p:nvPr/>
        </p:nvSpPr>
        <p:spPr>
          <a:xfrm xmlns:a="http://schemas.openxmlformats.org/drawingml/2006/main">
            <a:off x="533400" y="6324600"/>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F4E12"/>
                </a:solidFill>
                <a:latin typeface="Arial"/>
                <a:ea typeface="Arial"/>
                <a:cs typeface="Arial"/>
              </a:defRPr>
            </a:pPr>
            <a:r>
              <a:rPr sz="1275" b="0">
                <a:solidFill>
                  <a:srgbClr val="CF4E12"/>
                </a:solidFill>
                <a:latin typeface="Arial"/>
                <a:ea typeface="Arial"/>
                <a:cs typeface="Arial"/>
              </a:rPr>
              <a:t>Ticket, approval và reviewer mô phỏng. Không thực thi IAM, shell hoặc thay đổi hạ tầng.</a:t>
            </a:r>
          </a:p>
        </p:txBody>
      </p:sp>
    </p:spTree>
    <p:extLst>
      <p:ext uri="{BB962C8B-B14F-4D97-AF65-F5344CB8AC3E}">
        <p14:creationId xmlns:p14="http://schemas.microsoft.com/office/powerpoint/2010/main" val="13382674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396EE54-ACA0-42FF-8747-6EA8EC6E480A}"/>
              </a:ext>
            </a:extLst>
          </p:cNvPr>
          <p:cNvSpPr>
            <a:spLocks xmlns:a="http://schemas.openxmlformats.org/drawingml/2006/main" noGrp="1"/>
          </p:cNvSpPr>
          <p:nvPr/>
        </p:nvSpPr>
        <p:spPr>
          <a:xfrm xmlns:a="http://schemas.openxmlformats.org/drawingml/2006/main">
            <a:off x="533400" y="247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CF4E12"/>
                </a:solidFill>
                <a:latin typeface="Arial"/>
                <a:ea typeface="Arial"/>
                <a:cs typeface="Arial"/>
              </a:defRPr>
            </a:pPr>
            <a:r>
              <a:rPr sz="1200" b="1">
                <a:solidFill>
                  <a:srgbClr val="CF4E12"/>
                </a:solidFill>
                <a:latin typeface="Arial"/>
                <a:ea typeface="Arial"/>
                <a:cs typeface="Arial"/>
              </a:rPr>
              <a:t>VNG SUPPORT   /   MLAI 2026   /   ĐỀ A</a:t>
            </a:r>
          </a:p>
        </p:txBody>
      </p:sp>
      <p:sp>
        <p:nvSpPr>
          <p:cNvPr id="2" name="">
            <a:extLst xmlns:a="http://schemas.openxmlformats.org/drawingml/2006/main">
              <a:ext uri="{FF2B5EF4-FFF2-40B4-BE49-F238E27FC236}">
                <a16:creationId xmlns:a16="http://schemas.microsoft.com/office/drawing/2014/main" id="{917217B8-6FBA-4060-9BDE-91519928DAD9}"/>
              </a:ext>
            </a:extLst>
          </p:cNvPr>
          <p:cNvSpPr>
            <a:spLocks xmlns:a="http://schemas.openxmlformats.org/drawingml/2006/main" noGrp="1"/>
          </p:cNvSpPr>
          <p:nvPr/>
        </p:nvSpPr>
        <p:spPr>
          <a:xfrm xmlns:a="http://schemas.openxmlformats.org/drawingml/2006/main">
            <a:off x="533400" y="6858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02B38"/>
                </a:solidFill>
                <a:latin typeface="Arial"/>
                <a:ea typeface="Arial"/>
                <a:cs typeface="Arial"/>
              </a:defRPr>
            </a:pPr>
            <a:r>
              <a:rPr sz="3225" b="1">
                <a:solidFill>
                  <a:srgbClr val="202B38"/>
                </a:solidFill>
                <a:latin typeface="Arial"/>
                <a:ea typeface="Arial"/>
                <a:cs typeface="Arial"/>
              </a:rPr>
              <a:t>Giới hạn, rủi ro và bước tiếp theo</a:t>
            </a:r>
          </a:p>
        </p:txBody>
      </p:sp>
      <p:sp>
        <p:nvSpPr>
          <p:cNvPr id="3" name="">
            <a:extLst xmlns:a="http://schemas.openxmlformats.org/drawingml/2006/main">
              <a:ext uri="{FF2B5EF4-FFF2-40B4-BE49-F238E27FC236}">
                <a16:creationId xmlns:a16="http://schemas.microsoft.com/office/drawing/2014/main" id="{53FF869C-2711-4CEF-A2FB-678E6D68C908}"/>
              </a:ext>
            </a:extLst>
          </p:cNvPr>
          <p:cNvSpPr>
            <a:spLocks xmlns:a="http://schemas.openxmlformats.org/drawingml/2006/main" noGrp="1"/>
          </p:cNvSpPr>
          <p:nvPr/>
        </p:nvSpPr>
        <p:spPr>
          <a:xfrm xmlns:a="http://schemas.openxmlformats.org/drawingml/2006/main">
            <a:off x="533400" y="1352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06D"/>
                </a:solidFill>
                <a:latin typeface="Arial"/>
                <a:ea typeface="Arial"/>
                <a:cs typeface="Arial"/>
              </a:defRPr>
            </a:pPr>
            <a:r>
              <a:rPr sz="1725" b="0">
                <a:solidFill>
                  <a:srgbClr val="52606D"/>
                </a:solidFill>
                <a:latin typeface="Arial"/>
                <a:ea typeface="Arial"/>
                <a:cs typeface="Arial"/>
              </a:rPr>
              <a:t>Giám khảo có thể kiểm tra trực tiếp quyết định, quyền can thiệp và audit.</a:t>
            </a:r>
          </a:p>
        </p:txBody>
      </p:sp>
      <p:sp>
        <p:nvSpPr>
          <p:cNvPr id="4" name="">
            <a:extLst xmlns:a="http://schemas.openxmlformats.org/drawingml/2006/main">
              <a:ext uri="{FF2B5EF4-FFF2-40B4-BE49-F238E27FC236}">
                <a16:creationId xmlns:a16="http://schemas.microsoft.com/office/drawing/2014/main" id="{57AC25D3-82C4-411D-9B28-AD0390289E29}"/>
              </a:ext>
            </a:extLst>
          </p:cNvPr>
          <p:cNvSpPr>
            <a:spLocks xmlns:a="http://schemas.openxmlformats.org/drawingml/2006/main" noGrp="1"/>
          </p:cNvSpPr>
          <p:nvPr/>
        </p:nvSpPr>
        <p:spPr>
          <a:xfrm xmlns:a="http://schemas.openxmlformats.org/drawingml/2006/main">
            <a:off x="11049000" y="644842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06D"/>
                </a:solidFill>
                <a:latin typeface="Arial"/>
                <a:ea typeface="Arial"/>
                <a:cs typeface="Arial"/>
              </a:defRPr>
            </a:pPr>
            <a:r>
              <a:rPr sz="1200" b="0">
                <a:solidFill>
                  <a:srgbClr val="52606D"/>
                </a:solidFill>
                <a:latin typeface="Arial"/>
                <a:ea typeface="Arial"/>
                <a:cs typeface="Arial"/>
              </a:rPr>
              <a:t>5 / 5</a:t>
            </a:r>
          </a:p>
        </p:txBody>
      </p:sp>
      <p:sp>
        <p:nvSpPr>
          <p:cNvPr id="5" name="">
            <a:extLst xmlns:a="http://schemas.openxmlformats.org/drawingml/2006/main">
              <a:ext uri="{FF2B5EF4-FFF2-40B4-BE49-F238E27FC236}">
                <a16:creationId xmlns:a16="http://schemas.microsoft.com/office/drawing/2014/main" id="{CB311CBF-394B-4DC3-A639-2604FEA5D2FC}"/>
              </a:ext>
            </a:extLst>
          </p:cNvPr>
          <p:cNvSpPr>
            <a:spLocks xmlns:a="http://schemas.openxmlformats.org/drawingml/2006/main" noGrp="1"/>
          </p:cNvSpPr>
          <p:nvPr/>
        </p:nvSpPr>
        <p:spPr>
          <a:xfrm xmlns:a="http://schemas.openxmlformats.org/drawingml/2006/main">
            <a:off x="533400" y="2047875"/>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F4E12"/>
                </a:solidFill>
                <a:latin typeface="Arial"/>
                <a:ea typeface="Arial"/>
                <a:cs typeface="Arial"/>
              </a:defRPr>
            </a:pPr>
            <a:r>
              <a:rPr sz="2175" b="1">
                <a:solidFill>
                  <a:srgbClr val="CF4E12"/>
                </a:solidFill>
                <a:latin typeface="Arial"/>
                <a:ea typeface="Arial"/>
                <a:cs typeface="Arial"/>
              </a:rPr>
              <a:t>Giới hạn hiện tại</a:t>
            </a:r>
          </a:p>
        </p:txBody>
      </p:sp>
      <p:sp>
        <p:nvSpPr>
          <p:cNvPr id="6" name="">
            <a:extLst xmlns:a="http://schemas.openxmlformats.org/drawingml/2006/main">
              <a:ext uri="{FF2B5EF4-FFF2-40B4-BE49-F238E27FC236}">
                <a16:creationId xmlns:a16="http://schemas.microsoft.com/office/drawing/2014/main" id="{41778D6F-194D-43AF-B598-45C1B90C0236}"/>
              </a:ext>
            </a:extLst>
          </p:cNvPr>
          <p:cNvSpPr>
            <a:spLocks xmlns:a="http://schemas.openxmlformats.org/drawingml/2006/main" noGrp="1"/>
          </p:cNvSpPr>
          <p:nvPr/>
        </p:nvSpPr>
        <p:spPr>
          <a:xfrm xmlns:a="http://schemas.openxmlformats.org/drawingml/2006/main">
            <a:off x="6419850" y="204787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F4E12"/>
                </a:solidFill>
                <a:latin typeface="Arial"/>
                <a:ea typeface="Arial"/>
                <a:cs typeface="Arial"/>
              </a:defRPr>
            </a:pPr>
            <a:r>
              <a:rPr sz="2175" b="1">
                <a:solidFill>
                  <a:srgbClr val="CF4E12"/>
                </a:solidFill>
                <a:latin typeface="Arial"/>
                <a:ea typeface="Arial"/>
                <a:cs typeface="Arial"/>
              </a:rPr>
              <a:t>Cách xử lý tiếp theo</a:t>
            </a:r>
          </a:p>
        </p:txBody>
      </p:sp>
      <p:sp>
        <p:nvSpPr>
          <p:cNvPr id="7" name="">
            <a:extLst xmlns:a="http://schemas.openxmlformats.org/drawingml/2006/main">
              <a:ext uri="{FF2B5EF4-FFF2-40B4-BE49-F238E27FC236}">
                <a16:creationId xmlns:a16="http://schemas.microsoft.com/office/drawing/2014/main" id="{39EFC952-4B16-4666-8400-008F23A5A506}"/>
              </a:ext>
            </a:extLst>
          </p:cNvPr>
          <p:cNvSpPr>
            <a:spLocks xmlns:a="http://schemas.openxmlformats.org/drawingml/2006/main" noGrp="1"/>
          </p:cNvSpPr>
          <p:nvPr/>
        </p:nvSpPr>
        <p:spPr>
          <a:xfrm xmlns:a="http://schemas.openxmlformats.org/drawingml/2006/main">
            <a:off x="533400" y="2657475"/>
            <a:ext cx="5200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B38"/>
                </a:solidFill>
                <a:latin typeface="Arial"/>
                <a:ea typeface="Arial"/>
                <a:cs typeface="Arial"/>
              </a:defRPr>
            </a:pPr>
            <a:r>
              <a:rPr sz="1725" b="0">
                <a:solidFill>
                  <a:srgbClr val="202B38"/>
                </a:solidFill>
                <a:latin typeface="Arial"/>
                <a:ea typeface="Arial"/>
                <a:cs typeface="Arial"/>
              </a:rPr>
              <a:t>Nhận diện rủi ro dựa một phần vào mẫu ngôn ngữ.</a:t>
            </a:r>
          </a:p>
        </p:txBody>
      </p:sp>
      <p:sp>
        <p:nvSpPr>
          <p:cNvPr id="8" name="">
            <a:extLst xmlns:a="http://schemas.openxmlformats.org/drawingml/2006/main">
              <a:ext uri="{FF2B5EF4-FFF2-40B4-BE49-F238E27FC236}">
                <a16:creationId xmlns:a16="http://schemas.microsoft.com/office/drawing/2014/main" id="{FF546481-EB1A-4AF8-B175-8AD24A0DA8D0}"/>
              </a:ext>
            </a:extLst>
          </p:cNvPr>
          <p:cNvSpPr>
            <a:spLocks xmlns:a="http://schemas.openxmlformats.org/drawingml/2006/main" noGrp="1"/>
          </p:cNvSpPr>
          <p:nvPr/>
        </p:nvSpPr>
        <p:spPr>
          <a:xfrm xmlns:a="http://schemas.openxmlformats.org/drawingml/2006/main">
            <a:off x="6419850" y="26574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B38"/>
                </a:solidFill>
                <a:latin typeface="Arial"/>
                <a:ea typeface="Arial"/>
                <a:cs typeface="Arial"/>
              </a:defRPr>
            </a:pPr>
            <a:r>
              <a:rPr sz="1725" b="0">
                <a:solidFill>
                  <a:srgbClr val="202B38"/>
                </a:solidFill>
                <a:latin typeface="Arial"/>
                <a:ea typeface="Arial"/>
                <a:cs typeface="Arial"/>
              </a:rPr>
              <a:t>Bổ sung tập độc lập, đo bỏ sót và chuyển thừa.</a:t>
            </a:r>
          </a:p>
        </p:txBody>
      </p:sp>
      <p:sp>
        <p:nvSpPr>
          <p:cNvPr id="9" name="">
            <a:extLst xmlns:a="http://schemas.openxmlformats.org/drawingml/2006/main">
              <a:ext uri="{FF2B5EF4-FFF2-40B4-BE49-F238E27FC236}">
                <a16:creationId xmlns:a16="http://schemas.microsoft.com/office/drawing/2014/main" id="{2F542778-7F7B-45B6-B395-707E03777B46}"/>
              </a:ext>
            </a:extLst>
          </p:cNvPr>
          <p:cNvSpPr>
            <a:spLocks xmlns:a="http://schemas.openxmlformats.org/drawingml/2006/main" noGrp="1"/>
          </p:cNvSpPr>
          <p:nvPr/>
        </p:nvSpPr>
        <p:spPr>
          <a:xfrm xmlns:a="http://schemas.openxmlformats.org/drawingml/2006/main">
            <a:off x="533400" y="3257550"/>
            <a:ext cx="11125200" cy="0"/>
          </a:xfrm>
          <a:prstGeom xmlns:a="http://schemas.openxmlformats.org/drawingml/2006/main" prst="line">
            <a:avLst/>
          </a:prstGeom>
          <a:noFill xmlns:a="http://schemas.openxmlformats.org/drawingml/2006/main"/>
          <a:ln xmlns:a="http://schemas.openxmlformats.org/drawingml/2006/main" w="14288">
            <a:solidFill>
              <a:srgbClr val="D0D5DA"/>
            </a:solidFill>
          </a:ln>
        </p:spPr>
      </p:sp>
      <p:sp>
        <p:nvSpPr>
          <p:cNvPr id="10" name="">
            <a:extLst xmlns:a="http://schemas.openxmlformats.org/drawingml/2006/main">
              <a:ext uri="{FF2B5EF4-FFF2-40B4-BE49-F238E27FC236}">
                <a16:creationId xmlns:a16="http://schemas.microsoft.com/office/drawing/2014/main" id="{C5DFA056-29A5-4137-968E-E876DECA3D3C}"/>
              </a:ext>
            </a:extLst>
          </p:cNvPr>
          <p:cNvSpPr>
            <a:spLocks xmlns:a="http://schemas.openxmlformats.org/drawingml/2006/main" noGrp="1"/>
          </p:cNvSpPr>
          <p:nvPr/>
        </p:nvSpPr>
        <p:spPr>
          <a:xfrm xmlns:a="http://schemas.openxmlformats.org/drawingml/2006/main">
            <a:off x="533400" y="3343275"/>
            <a:ext cx="5200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B38"/>
                </a:solidFill>
                <a:latin typeface="Arial"/>
                <a:ea typeface="Arial"/>
                <a:cs typeface="Arial"/>
              </a:defRPr>
            </a:pPr>
            <a:r>
              <a:rPr sz="1725" b="0">
                <a:solidFill>
                  <a:srgbClr val="202B38"/>
                </a:solidFill>
                <a:latin typeface="Arial"/>
                <a:ea typeface="Arial"/>
                <a:cs typeface="Arial"/>
              </a:rPr>
              <a:t>Reviewer demo chưa có xác thực danh tính.</a:t>
            </a:r>
          </a:p>
        </p:txBody>
      </p:sp>
      <p:sp>
        <p:nvSpPr>
          <p:cNvPr id="11" name="">
            <a:extLst xmlns:a="http://schemas.openxmlformats.org/drawingml/2006/main">
              <a:ext uri="{FF2B5EF4-FFF2-40B4-BE49-F238E27FC236}">
                <a16:creationId xmlns:a16="http://schemas.microsoft.com/office/drawing/2014/main" id="{A8B33171-5E20-46B2-AA4D-0A4DBAF255C8}"/>
              </a:ext>
            </a:extLst>
          </p:cNvPr>
          <p:cNvSpPr>
            <a:spLocks xmlns:a="http://schemas.openxmlformats.org/drawingml/2006/main" noGrp="1"/>
          </p:cNvSpPr>
          <p:nvPr/>
        </p:nvSpPr>
        <p:spPr>
          <a:xfrm xmlns:a="http://schemas.openxmlformats.org/drawingml/2006/main">
            <a:off x="6419850" y="33432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B38"/>
                </a:solidFill>
                <a:latin typeface="Arial"/>
                <a:ea typeface="Arial"/>
                <a:cs typeface="Arial"/>
              </a:defRPr>
            </a:pPr>
            <a:r>
              <a:rPr sz="1725" b="0">
                <a:solidFill>
                  <a:srgbClr val="202B38"/>
                </a:solidFill>
                <a:latin typeface="Arial"/>
                <a:ea typeface="Arial"/>
                <a:cs typeface="Arial"/>
              </a:rPr>
              <a:t>Bổ sung xác thực, phân quyền trước dùng dữ liệu thật.</a:t>
            </a:r>
          </a:p>
        </p:txBody>
      </p:sp>
      <p:sp>
        <p:nvSpPr>
          <p:cNvPr id="12" name="">
            <a:extLst xmlns:a="http://schemas.openxmlformats.org/drawingml/2006/main">
              <a:ext uri="{FF2B5EF4-FFF2-40B4-BE49-F238E27FC236}">
                <a16:creationId xmlns:a16="http://schemas.microsoft.com/office/drawing/2014/main" id="{8B53A8D3-3B22-4E4B-A17A-4CDDF3049C18}"/>
              </a:ext>
            </a:extLst>
          </p:cNvPr>
          <p:cNvSpPr>
            <a:spLocks xmlns:a="http://schemas.openxmlformats.org/drawingml/2006/main" noGrp="1"/>
          </p:cNvSpPr>
          <p:nvPr/>
        </p:nvSpPr>
        <p:spPr>
          <a:xfrm xmlns:a="http://schemas.openxmlformats.org/drawingml/2006/main">
            <a:off x="533400" y="3943350"/>
            <a:ext cx="11125200" cy="0"/>
          </a:xfrm>
          <a:prstGeom xmlns:a="http://schemas.openxmlformats.org/drawingml/2006/main" prst="line">
            <a:avLst/>
          </a:prstGeom>
          <a:noFill xmlns:a="http://schemas.openxmlformats.org/drawingml/2006/main"/>
          <a:ln xmlns:a="http://schemas.openxmlformats.org/drawingml/2006/main" w="14288">
            <a:solidFill>
              <a:srgbClr val="D0D5DA"/>
            </a:solidFill>
          </a:ln>
        </p:spPr>
      </p:sp>
      <p:sp>
        <p:nvSpPr>
          <p:cNvPr id="13" name="">
            <a:extLst xmlns:a="http://schemas.openxmlformats.org/drawingml/2006/main">
              <a:ext uri="{FF2B5EF4-FFF2-40B4-BE49-F238E27FC236}">
                <a16:creationId xmlns:a16="http://schemas.microsoft.com/office/drawing/2014/main" id="{675757E7-A074-4B2D-B19A-5C17F9C88E11}"/>
              </a:ext>
            </a:extLst>
          </p:cNvPr>
          <p:cNvSpPr>
            <a:spLocks xmlns:a="http://schemas.openxmlformats.org/drawingml/2006/main" noGrp="1"/>
          </p:cNvSpPr>
          <p:nvPr/>
        </p:nvSpPr>
        <p:spPr>
          <a:xfrm xmlns:a="http://schemas.openxmlformats.org/drawingml/2006/main">
            <a:off x="533400" y="4029075"/>
            <a:ext cx="5200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B38"/>
                </a:solidFill>
                <a:latin typeface="Arial"/>
                <a:ea typeface="Arial"/>
                <a:cs typeface="Arial"/>
              </a:defRPr>
            </a:pPr>
            <a:r>
              <a:rPr sz="1725" b="0">
                <a:solidFill>
                  <a:srgbClr val="202B38"/>
                </a:solidFill>
                <a:latin typeface="Arial"/>
                <a:ea typeface="Arial"/>
                <a:cs typeface="Arial"/>
              </a:rPr>
              <a:t>Chưa có user study hoặc đo tác động thực địa.</a:t>
            </a:r>
          </a:p>
        </p:txBody>
      </p:sp>
      <p:sp>
        <p:nvSpPr>
          <p:cNvPr id="14" name="">
            <a:extLst xmlns:a="http://schemas.openxmlformats.org/drawingml/2006/main">
              <a:ext uri="{FF2B5EF4-FFF2-40B4-BE49-F238E27FC236}">
                <a16:creationId xmlns:a16="http://schemas.microsoft.com/office/drawing/2014/main" id="{64A85181-067A-436D-9520-0F269022416F}"/>
              </a:ext>
            </a:extLst>
          </p:cNvPr>
          <p:cNvSpPr>
            <a:spLocks xmlns:a="http://schemas.openxmlformats.org/drawingml/2006/main" noGrp="1"/>
          </p:cNvSpPr>
          <p:nvPr/>
        </p:nvSpPr>
        <p:spPr>
          <a:xfrm xmlns:a="http://schemas.openxmlformats.org/drawingml/2006/main">
            <a:off x="6419850" y="40290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B38"/>
                </a:solidFill>
                <a:latin typeface="Arial"/>
                <a:ea typeface="Arial"/>
                <a:cs typeface="Arial"/>
              </a:defRPr>
            </a:pPr>
            <a:r>
              <a:rPr sz="1725" b="0">
                <a:solidFill>
                  <a:srgbClr val="202B38"/>
                </a:solidFill>
                <a:latin typeface="Arial"/>
                <a:ea typeface="Arial"/>
                <a:cs typeface="Arial"/>
              </a:rPr>
              <a:t>Thử với 3 nhân sự và sửa từ feedback có bằng chứng.</a:t>
            </a:r>
          </a:p>
        </p:txBody>
      </p:sp>
      <p:sp>
        <p:nvSpPr>
          <p:cNvPr id="15" name="">
            <a:extLst xmlns:a="http://schemas.openxmlformats.org/drawingml/2006/main">
              <a:ext uri="{FF2B5EF4-FFF2-40B4-BE49-F238E27FC236}">
                <a16:creationId xmlns:a16="http://schemas.microsoft.com/office/drawing/2014/main" id="{ED4B358D-1B62-412C-AA91-FB067BDE1028}"/>
              </a:ext>
            </a:extLst>
          </p:cNvPr>
          <p:cNvSpPr>
            <a:spLocks xmlns:a="http://schemas.openxmlformats.org/drawingml/2006/main" noGrp="1"/>
          </p:cNvSpPr>
          <p:nvPr/>
        </p:nvSpPr>
        <p:spPr>
          <a:xfrm xmlns:a="http://schemas.openxmlformats.org/drawingml/2006/main">
            <a:off x="533400" y="4629150"/>
            <a:ext cx="11125200" cy="0"/>
          </a:xfrm>
          <a:prstGeom xmlns:a="http://schemas.openxmlformats.org/drawingml/2006/main" prst="line">
            <a:avLst/>
          </a:prstGeom>
          <a:noFill xmlns:a="http://schemas.openxmlformats.org/drawingml/2006/main"/>
          <a:ln xmlns:a="http://schemas.openxmlformats.org/drawingml/2006/main" w="14288">
            <a:solidFill>
              <a:srgbClr val="D0D5DA"/>
            </a:solidFill>
          </a:ln>
        </p:spPr>
      </p:sp>
      <p:sp>
        <p:nvSpPr>
          <p:cNvPr id="16" name="">
            <a:extLst xmlns:a="http://schemas.openxmlformats.org/drawingml/2006/main">
              <a:ext uri="{FF2B5EF4-FFF2-40B4-BE49-F238E27FC236}">
                <a16:creationId xmlns:a16="http://schemas.microsoft.com/office/drawing/2014/main" id="{F0B90DB4-E4C8-4A56-9153-16C7405801CA}"/>
              </a:ext>
            </a:extLst>
          </p:cNvPr>
          <p:cNvSpPr>
            <a:spLocks xmlns:a="http://schemas.openxmlformats.org/drawingml/2006/main" noGrp="1"/>
          </p:cNvSpPr>
          <p:nvPr/>
        </p:nvSpPr>
        <p:spPr>
          <a:xfrm xmlns:a="http://schemas.openxmlformats.org/drawingml/2006/main">
            <a:off x="533400" y="4714875"/>
            <a:ext cx="5200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B38"/>
                </a:solidFill>
                <a:latin typeface="Arial"/>
                <a:ea typeface="Arial"/>
                <a:cs typeface="Arial"/>
              </a:defRPr>
            </a:pPr>
            <a:r>
              <a:rPr sz="1725" b="0">
                <a:solidFill>
                  <a:srgbClr val="202B38"/>
                </a:solidFill>
                <a:latin typeface="Arial"/>
                <a:ea typeface="Arial"/>
                <a:cs typeface="Arial"/>
              </a:rPr>
              <a:t>QA source còn lỗi hash tài liệu từ upstream.</a:t>
            </a:r>
          </a:p>
        </p:txBody>
      </p:sp>
      <p:sp>
        <p:nvSpPr>
          <p:cNvPr id="17" name="">
            <a:extLst xmlns:a="http://schemas.openxmlformats.org/drawingml/2006/main">
              <a:ext uri="{FF2B5EF4-FFF2-40B4-BE49-F238E27FC236}">
                <a16:creationId xmlns:a16="http://schemas.microsoft.com/office/drawing/2014/main" id="{76B5D321-E8F8-4E04-8C53-FDCDEDA2E600}"/>
              </a:ext>
            </a:extLst>
          </p:cNvPr>
          <p:cNvSpPr>
            <a:spLocks xmlns:a="http://schemas.openxmlformats.org/drawingml/2006/main" noGrp="1"/>
          </p:cNvSpPr>
          <p:nvPr/>
        </p:nvSpPr>
        <p:spPr>
          <a:xfrm xmlns:a="http://schemas.openxmlformats.org/drawingml/2006/main">
            <a:off x="6419850" y="471487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B38"/>
                </a:solidFill>
                <a:latin typeface="Arial"/>
                <a:ea typeface="Arial"/>
                <a:cs typeface="Arial"/>
              </a:defRPr>
            </a:pPr>
            <a:r>
              <a:rPr sz="1725" b="0">
                <a:solidFill>
                  <a:srgbClr val="202B38"/>
                </a:solidFill>
                <a:latin typeface="Arial"/>
                <a:ea typeface="Arial"/>
                <a:cs typeface="Arial"/>
              </a:rPr>
              <a:t>Giữ báo cáo lỗi, rà provenance và chạy lại kiểm thử.</a:t>
            </a:r>
          </a:p>
        </p:txBody>
      </p:sp>
      <p:sp>
        <p:nvSpPr>
          <p:cNvPr id="18" name="">
            <a:extLst xmlns:a="http://schemas.openxmlformats.org/drawingml/2006/main">
              <a:ext uri="{FF2B5EF4-FFF2-40B4-BE49-F238E27FC236}">
                <a16:creationId xmlns:a16="http://schemas.microsoft.com/office/drawing/2014/main" id="{E5282763-3A71-46D2-A347-0F5ED529091D}"/>
              </a:ext>
            </a:extLst>
          </p:cNvPr>
          <p:cNvSpPr>
            <a:spLocks xmlns:a="http://schemas.openxmlformats.org/drawingml/2006/main" noGrp="1"/>
          </p:cNvSpPr>
          <p:nvPr/>
        </p:nvSpPr>
        <p:spPr>
          <a:xfrm xmlns:a="http://schemas.openxmlformats.org/drawingml/2006/main">
            <a:off x="533400" y="5743575"/>
            <a:ext cx="2190750" cy="542925"/>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19" name="">
            <a:extLst xmlns:a="http://schemas.openxmlformats.org/drawingml/2006/main">
              <a:ext uri="{FF2B5EF4-FFF2-40B4-BE49-F238E27FC236}">
                <a16:creationId xmlns:a16="http://schemas.microsoft.com/office/drawing/2014/main" id="{7C91FDE1-85D4-4010-AB52-6F8C96F2D2CE}"/>
              </a:ext>
            </a:extLst>
          </p:cNvPr>
          <p:cNvSpPr>
            <a:spLocks xmlns:a="http://schemas.openxmlformats.org/drawingml/2006/main" noGrp="1"/>
          </p:cNvSpPr>
          <p:nvPr/>
        </p:nvSpPr>
        <p:spPr>
          <a:xfrm xmlns:a="http://schemas.openxmlformats.org/drawingml/2006/main">
            <a:off x="685800" y="5876925"/>
            <a:ext cx="1885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02B38"/>
                </a:solidFill>
                <a:latin typeface="Arial"/>
                <a:ea typeface="Arial"/>
                <a:cs typeface="Arial"/>
              </a:defRPr>
            </a:pPr>
            <a:r>
              <a:rPr sz="1650" b="1">
                <a:solidFill>
                  <a:srgbClr val="202B38"/>
                </a:solidFill>
                <a:latin typeface="Arial"/>
                <a:ea typeface="Arial"/>
                <a:cs typeface="Arial"/>
              </a:rPr>
              <a:t>Verify 5 case</a:t>
            </a:r>
          </a:p>
        </p:txBody>
      </p:sp>
      <p:sp>
        <p:nvSpPr>
          <p:cNvPr id="20" name="">
            <a:extLst xmlns:a="http://schemas.openxmlformats.org/drawingml/2006/main">
              <a:ext uri="{FF2B5EF4-FFF2-40B4-BE49-F238E27FC236}">
                <a16:creationId xmlns:a16="http://schemas.microsoft.com/office/drawing/2014/main" id="{A14ECFD4-830D-487D-B4A6-0FD4069696CE}"/>
              </a:ext>
            </a:extLst>
          </p:cNvPr>
          <p:cNvSpPr>
            <a:spLocks xmlns:a="http://schemas.openxmlformats.org/drawingml/2006/main" noGrp="1"/>
          </p:cNvSpPr>
          <p:nvPr/>
        </p:nvSpPr>
        <p:spPr>
          <a:xfrm xmlns:a="http://schemas.openxmlformats.org/drawingml/2006/main">
            <a:off x="3524250" y="5743575"/>
            <a:ext cx="2190750" cy="542925"/>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21" name="">
            <a:extLst xmlns:a="http://schemas.openxmlformats.org/drawingml/2006/main">
              <a:ext uri="{FF2B5EF4-FFF2-40B4-BE49-F238E27FC236}">
                <a16:creationId xmlns:a16="http://schemas.microsoft.com/office/drawing/2014/main" id="{9736BD93-FC9F-4230-86F9-1F6AAD95BEED}"/>
              </a:ext>
            </a:extLst>
          </p:cNvPr>
          <p:cNvSpPr>
            <a:spLocks xmlns:a="http://schemas.openxmlformats.org/drawingml/2006/main" noGrp="1"/>
          </p:cNvSpPr>
          <p:nvPr/>
        </p:nvSpPr>
        <p:spPr>
          <a:xfrm xmlns:a="http://schemas.openxmlformats.org/drawingml/2006/main">
            <a:off x="3676650" y="5876925"/>
            <a:ext cx="1885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02B38"/>
                </a:solidFill>
                <a:latin typeface="Arial"/>
                <a:ea typeface="Arial"/>
                <a:cs typeface="Arial"/>
              </a:defRPr>
            </a:pPr>
            <a:r>
              <a:rPr sz="1650" b="1">
                <a:solidFill>
                  <a:srgbClr val="202B38"/>
                </a:solidFill>
                <a:latin typeface="Arial"/>
                <a:ea typeface="Arial"/>
                <a:cs typeface="Arial"/>
              </a:rPr>
              <a:t>2 input mới</a:t>
            </a:r>
          </a:p>
        </p:txBody>
      </p:sp>
      <p:sp>
        <p:nvSpPr>
          <p:cNvPr id="22" name="">
            <a:extLst xmlns:a="http://schemas.openxmlformats.org/drawingml/2006/main">
              <a:ext uri="{FF2B5EF4-FFF2-40B4-BE49-F238E27FC236}">
                <a16:creationId xmlns:a16="http://schemas.microsoft.com/office/drawing/2014/main" id="{7147F9D7-6438-475D-A268-D4663D4D3F96}"/>
              </a:ext>
            </a:extLst>
          </p:cNvPr>
          <p:cNvSpPr>
            <a:spLocks xmlns:a="http://schemas.openxmlformats.org/drawingml/2006/main" noGrp="1"/>
          </p:cNvSpPr>
          <p:nvPr/>
        </p:nvSpPr>
        <p:spPr>
          <a:xfrm xmlns:a="http://schemas.openxmlformats.org/drawingml/2006/main">
            <a:off x="6515100" y="5743575"/>
            <a:ext cx="2190750" cy="542925"/>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23" name="">
            <a:extLst xmlns:a="http://schemas.openxmlformats.org/drawingml/2006/main">
              <a:ext uri="{FF2B5EF4-FFF2-40B4-BE49-F238E27FC236}">
                <a16:creationId xmlns:a16="http://schemas.microsoft.com/office/drawing/2014/main" id="{1F9DEC5B-093C-4765-BF1B-B3E7D8B4E520}"/>
              </a:ext>
            </a:extLst>
          </p:cNvPr>
          <p:cNvSpPr>
            <a:spLocks xmlns:a="http://schemas.openxmlformats.org/drawingml/2006/main" noGrp="1"/>
          </p:cNvSpPr>
          <p:nvPr/>
        </p:nvSpPr>
        <p:spPr>
          <a:xfrm xmlns:a="http://schemas.openxmlformats.org/drawingml/2006/main">
            <a:off x="6667500" y="5876925"/>
            <a:ext cx="1885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02B38"/>
                </a:solidFill>
                <a:latin typeface="Arial"/>
                <a:ea typeface="Arial"/>
                <a:cs typeface="Arial"/>
              </a:defRPr>
            </a:pPr>
            <a:r>
              <a:rPr sz="1650" b="1">
                <a:solidFill>
                  <a:srgbClr val="202B38"/>
                </a:solidFill>
                <a:latin typeface="Arial"/>
                <a:ea typeface="Arial"/>
                <a:cs typeface="Arial"/>
              </a:rPr>
              <a:t>Dừng / sửa</a:t>
            </a:r>
          </a:p>
        </p:txBody>
      </p:sp>
      <p:sp>
        <p:nvSpPr>
          <p:cNvPr id="24" name="">
            <a:extLst xmlns:a="http://schemas.openxmlformats.org/drawingml/2006/main">
              <a:ext uri="{FF2B5EF4-FFF2-40B4-BE49-F238E27FC236}">
                <a16:creationId xmlns:a16="http://schemas.microsoft.com/office/drawing/2014/main" id="{2B4508E7-70E6-4E85-88F1-103194D2772D}"/>
              </a:ext>
            </a:extLst>
          </p:cNvPr>
          <p:cNvSpPr>
            <a:spLocks xmlns:a="http://schemas.openxmlformats.org/drawingml/2006/main" noGrp="1"/>
          </p:cNvSpPr>
          <p:nvPr/>
        </p:nvSpPr>
        <p:spPr>
          <a:xfrm xmlns:a="http://schemas.openxmlformats.org/drawingml/2006/main">
            <a:off x="9505950" y="5743575"/>
            <a:ext cx="2152650" cy="542925"/>
          </a:xfrm>
          <a:prstGeom xmlns:a="http://schemas.openxmlformats.org/drawingml/2006/main" prst="rect">
            <a:avLst/>
          </a:prstGeom>
          <a:solidFill xmlns:a="http://schemas.openxmlformats.org/drawingml/2006/main">
            <a:srgbClr val="FFFFFF"/>
          </a:solidFill>
          <a:ln xmlns:a="http://schemas.openxmlformats.org/drawingml/2006/main" w="14288">
            <a:solidFill>
              <a:srgbClr val="202B38"/>
            </a:solidFill>
          </a:ln>
        </p:spPr>
      </p:sp>
      <p:sp>
        <p:nvSpPr>
          <p:cNvPr id="25" name="">
            <a:extLst xmlns:a="http://schemas.openxmlformats.org/drawingml/2006/main">
              <a:ext uri="{FF2B5EF4-FFF2-40B4-BE49-F238E27FC236}">
                <a16:creationId xmlns:a16="http://schemas.microsoft.com/office/drawing/2014/main" id="{FDFCA8AA-AEE2-42E2-9D34-D74409D0ACEC}"/>
              </a:ext>
            </a:extLst>
          </p:cNvPr>
          <p:cNvSpPr>
            <a:spLocks xmlns:a="http://schemas.openxmlformats.org/drawingml/2006/main" noGrp="1"/>
          </p:cNvSpPr>
          <p:nvPr/>
        </p:nvSpPr>
        <p:spPr>
          <a:xfrm xmlns:a="http://schemas.openxmlformats.org/drawingml/2006/main">
            <a:off x="9658350" y="5876925"/>
            <a:ext cx="1847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02B38"/>
                </a:solidFill>
                <a:latin typeface="Arial"/>
                <a:ea typeface="Arial"/>
                <a:cs typeface="Arial"/>
              </a:defRPr>
            </a:pPr>
            <a:r>
              <a:rPr sz="1650" b="1">
                <a:solidFill>
                  <a:srgbClr val="202B38"/>
                </a:solidFill>
                <a:latin typeface="Arial"/>
                <a:ea typeface="Arial"/>
                <a:cs typeface="Arial"/>
              </a:rPr>
              <a:t>Audit</a:t>
            </a:r>
          </a:p>
        </p:txBody>
      </p:sp>
      <p:cxnSp>
        <p:nvCxnSpPr>
          <p:cNvPr id="54" name=""/>
          <p:cNvCxnSpPr>
            <a:stCxn xmlns:a="http://schemas.openxmlformats.org/drawingml/2006/main" id="18" idx="3"/>
            <a:endCxn xmlns:a="http://schemas.openxmlformats.org/drawingml/2006/main" id="20" idx="1"/>
          </p:cNvCxnSpPr>
          <p:nvPr/>
        </p:nvCxnSpPr>
        <p:spPr>
          <a:xfrm xmlns:a="http://schemas.openxmlformats.org/drawingml/2006/main">
            <a:off x="2724150" y="6015038"/>
            <a:ext cx="800100" cy="0"/>
          </a:xfrm>
          <a:prstGeom xmlns:a="http://schemas.openxmlformats.org/drawingml/2006/main" prst="straightConnector1">
            <a:avLst/>
          </a:prstGeom>
          <a:ln xmlns:a="http://schemas.openxmlformats.org/drawingml/2006/main" w="19050">
            <a:solidFill>
              <a:srgbClr val="52606D"/>
            </a:solidFill>
            <a:tailEnd type="triangle" w="sm" len="sm"/>
          </a:ln>
        </p:spPr>
      </p:cxnSp>
      <p:cxnSp>
        <p:nvCxnSpPr>
          <p:cNvPr id="55" name=""/>
          <p:cNvCxnSpPr>
            <a:stCxn xmlns:a="http://schemas.openxmlformats.org/drawingml/2006/main" id="20" idx="3"/>
            <a:endCxn xmlns:a="http://schemas.openxmlformats.org/drawingml/2006/main" id="22" idx="1"/>
          </p:cNvCxnSpPr>
          <p:nvPr/>
        </p:nvCxnSpPr>
        <p:spPr>
          <a:xfrm xmlns:a="http://schemas.openxmlformats.org/drawingml/2006/main">
            <a:off x="5715000" y="6015038"/>
            <a:ext cx="800100" cy="0"/>
          </a:xfrm>
          <a:prstGeom xmlns:a="http://schemas.openxmlformats.org/drawingml/2006/main" prst="straightConnector1">
            <a:avLst/>
          </a:prstGeom>
          <a:ln xmlns:a="http://schemas.openxmlformats.org/drawingml/2006/main" w="19050">
            <a:solidFill>
              <a:srgbClr val="52606D"/>
            </a:solidFill>
            <a:tailEnd type="triangle" w="sm" len="sm"/>
          </a:ln>
        </p:spPr>
      </p:cxnSp>
      <p:cxnSp>
        <p:nvCxnSpPr>
          <p:cNvPr id="56" name=""/>
          <p:cNvCxnSpPr>
            <a:stCxn xmlns:a="http://schemas.openxmlformats.org/drawingml/2006/main" id="22" idx="3"/>
            <a:endCxn xmlns:a="http://schemas.openxmlformats.org/drawingml/2006/main" id="24" idx="1"/>
          </p:cNvCxnSpPr>
          <p:nvPr/>
        </p:nvCxnSpPr>
        <p:spPr>
          <a:xfrm xmlns:a="http://schemas.openxmlformats.org/drawingml/2006/main">
            <a:off x="8705850" y="6015038"/>
            <a:ext cx="800100" cy="0"/>
          </a:xfrm>
          <a:prstGeom xmlns:a="http://schemas.openxmlformats.org/drawingml/2006/main" prst="straightConnector1">
            <a:avLst/>
          </a:prstGeom>
          <a:ln xmlns:a="http://schemas.openxmlformats.org/drawingml/2006/main" w="19050">
            <a:solidFill>
              <a:srgbClr val="52606D"/>
            </a:solidFill>
            <a:tailEnd type="triangle" w="sm" len="sm"/>
          </a:ln>
        </p:spPr>
      </p:cxnSp>
    </p:spTree>
    <p:extLst>
      <p:ext uri="{BB962C8B-B14F-4D97-AF65-F5344CB8AC3E}">
        <p14:creationId xmlns:p14="http://schemas.microsoft.com/office/powerpoint/2010/main" val="18175028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2026-09-22T12:49:58.3970000Z</dcterms:created>
  <dcterms:modified xsi:type="dcterms:W3CDTF">2026-09-22T12:49:58.3970000Z</dcterms:modified>
</coreProperties>
</file>